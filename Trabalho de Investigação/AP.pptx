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18"/>
  </p:notesMasterIdLst>
  <p:sldIdLst>
    <p:sldId id="256" r:id="rId2"/>
    <p:sldId id="306" r:id="rId3"/>
    <p:sldId id="307" r:id="rId4"/>
    <p:sldId id="308" r:id="rId5"/>
    <p:sldId id="309" r:id="rId6"/>
    <p:sldId id="311" r:id="rId7"/>
    <p:sldId id="310" r:id="rId8"/>
    <p:sldId id="313" r:id="rId9"/>
    <p:sldId id="312" r:id="rId10"/>
    <p:sldId id="315" r:id="rId11"/>
    <p:sldId id="314" r:id="rId12"/>
    <p:sldId id="317" r:id="rId13"/>
    <p:sldId id="316" r:id="rId14"/>
    <p:sldId id="318" r:id="rId15"/>
    <p:sldId id="322" r:id="rId16"/>
    <p:sldId id="323" r:id="rId17"/>
  </p:sldIdLst>
  <p:sldSz cx="9144000" cy="5143500" type="screen16x9"/>
  <p:notesSz cx="6858000" cy="9144000"/>
  <p:embeddedFontLst>
    <p:embeddedFont>
      <p:font typeface="Nanum Gothic Coding" panose="020B0604020202020204" charset="-127"/>
      <p:regular r:id="rId19"/>
      <p:bold r:id="rId20"/>
    </p:embeddedFont>
    <p:embeddedFont>
      <p:font typeface="Bebas Neue" panose="020B0606020202050201" pitchFamily="34" charset="0"/>
      <p:regular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DM Sans" pitchFamily="2" charset="0"/>
      <p:regular r:id="rId26"/>
      <p:bold r:id="rId27"/>
      <p:italic r:id="rId28"/>
      <p:boldItalic r:id="rId29"/>
    </p:embeddedFont>
    <p:embeddedFont>
      <p:font typeface="Roboto Condensed Light" panose="02000000000000000000" pitchFamily="2" charset="0"/>
      <p:regular r:id="rId30"/>
      <p:italic r:id="rId31"/>
    </p:embeddedFont>
    <p:embeddedFont>
      <p:font typeface="Teko Medium" panose="020B0604020202020204" charset="0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05B304-C7B0-4ACB-8721-64E2BB7EFD52}" v="999" dt="2023-04-23T14:59:20.538"/>
  </p1510:revLst>
</p1510:revInfo>
</file>

<file path=ppt/tableStyles.xml><?xml version="1.0" encoding="utf-8"?>
<a:tblStyleLst xmlns:a="http://schemas.openxmlformats.org/drawingml/2006/main" def="{FC13D59B-4246-45B2-B43B-01E438112BA1}">
  <a:tblStyle styleId="{FC13D59B-4246-45B2-B43B-01E438112BA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2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614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4c984e294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4c984e294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724a2348e6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1724a2348e6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5648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75ba4a1694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75ba4a1694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28229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724a2348e6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1724a2348e6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1594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80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369400" y="1134700"/>
            <a:ext cx="5059500" cy="21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>
                <a:latin typeface="Teko Medium"/>
                <a:ea typeface="Teko Medium"/>
                <a:cs typeface="Teko Medium"/>
                <a:sym typeface="Teko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369400" y="3687675"/>
            <a:ext cx="5059500" cy="409500"/>
          </a:xfrm>
          <a:prstGeom prst="rect">
            <a:avLst/>
          </a:prstGeom>
          <a:solidFill>
            <a:srgbClr val="E6913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19050" dir="540000" algn="bl" rotWithShape="0">
              <a:srgbClr val="E69138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Nanum Gothic Coding"/>
                <a:ea typeface="Nanum Gothic Coding"/>
                <a:cs typeface="Nanum Gothic Coding"/>
                <a:sym typeface="Nanum Gothic Coding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/>
          <p:cNvPicPr preferRelativeResize="0"/>
          <p:nvPr/>
        </p:nvPicPr>
        <p:blipFill rotWithShape="1">
          <a:blip r:embed="rId2">
            <a:alphaModFix amt="80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4190525" y="1389063"/>
            <a:ext cx="42384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6100">
                <a:latin typeface="Teko Medium"/>
                <a:ea typeface="Teko Medium"/>
                <a:cs typeface="Teko Medium"/>
                <a:sym typeface="Teko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4190625" y="2275138"/>
            <a:ext cx="4238400" cy="19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3"/>
          <p:cNvSpPr txBox="1">
            <a:spLocks noGrp="1"/>
          </p:cNvSpPr>
          <p:nvPr>
            <p:ph type="subTitle" idx="1"/>
          </p:nvPr>
        </p:nvSpPr>
        <p:spPr>
          <a:xfrm>
            <a:off x="720000" y="2405313"/>
            <a:ext cx="2336400" cy="56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2" name="Google Shape;112;p23"/>
          <p:cNvSpPr txBox="1">
            <a:spLocks noGrp="1"/>
          </p:cNvSpPr>
          <p:nvPr>
            <p:ph type="subTitle" idx="2"/>
          </p:nvPr>
        </p:nvSpPr>
        <p:spPr>
          <a:xfrm>
            <a:off x="720000" y="3009867"/>
            <a:ext cx="2336400" cy="1155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3"/>
          <p:cNvSpPr txBox="1">
            <a:spLocks noGrp="1"/>
          </p:cNvSpPr>
          <p:nvPr>
            <p:ph type="subTitle" idx="3"/>
          </p:nvPr>
        </p:nvSpPr>
        <p:spPr>
          <a:xfrm>
            <a:off x="3403800" y="3009867"/>
            <a:ext cx="2336400" cy="1155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3"/>
          <p:cNvSpPr txBox="1">
            <a:spLocks noGrp="1"/>
          </p:cNvSpPr>
          <p:nvPr>
            <p:ph type="subTitle" idx="4"/>
          </p:nvPr>
        </p:nvSpPr>
        <p:spPr>
          <a:xfrm>
            <a:off x="6087600" y="3009867"/>
            <a:ext cx="2336400" cy="1155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Teko Medium"/>
                <a:ea typeface="Teko Medium"/>
                <a:cs typeface="Teko Medium"/>
                <a:sym typeface="Teko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subTitle" idx="5"/>
          </p:nvPr>
        </p:nvSpPr>
        <p:spPr>
          <a:xfrm>
            <a:off x="3403800" y="2405313"/>
            <a:ext cx="2336400" cy="56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subTitle" idx="6"/>
          </p:nvPr>
        </p:nvSpPr>
        <p:spPr>
          <a:xfrm>
            <a:off x="6087600" y="2405313"/>
            <a:ext cx="2336400" cy="56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4"/>
          <p:cNvPicPr preferRelativeResize="0"/>
          <p:nvPr/>
        </p:nvPicPr>
        <p:blipFill rotWithShape="1">
          <a:blip r:embed="rId2">
            <a:alphaModFix amt="80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subTitle" idx="1"/>
          </p:nvPr>
        </p:nvSpPr>
        <p:spPr>
          <a:xfrm>
            <a:off x="2032350" y="1105100"/>
            <a:ext cx="1834200" cy="472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subTitle" idx="2"/>
          </p:nvPr>
        </p:nvSpPr>
        <p:spPr>
          <a:xfrm>
            <a:off x="2032350" y="1577296"/>
            <a:ext cx="1834200" cy="118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subTitle" idx="3"/>
          </p:nvPr>
        </p:nvSpPr>
        <p:spPr>
          <a:xfrm>
            <a:off x="4286400" y="3422596"/>
            <a:ext cx="1834200" cy="118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ubTitle" idx="4"/>
          </p:nvPr>
        </p:nvSpPr>
        <p:spPr>
          <a:xfrm>
            <a:off x="6540450" y="2499961"/>
            <a:ext cx="1834200" cy="118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subTitle" idx="5"/>
          </p:nvPr>
        </p:nvSpPr>
        <p:spPr>
          <a:xfrm>
            <a:off x="4286400" y="2950400"/>
            <a:ext cx="1834200" cy="472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subTitle" idx="6"/>
          </p:nvPr>
        </p:nvSpPr>
        <p:spPr>
          <a:xfrm>
            <a:off x="6540450" y="2027750"/>
            <a:ext cx="1834200" cy="472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0"/>
          <p:cNvPicPr preferRelativeResize="0"/>
          <p:nvPr/>
        </p:nvPicPr>
        <p:blipFill rotWithShape="1">
          <a:blip r:embed="rId2">
            <a:alphaModFix amt="80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 Medium"/>
              <a:buNone/>
              <a:defRPr sz="35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 Medium"/>
              <a:buNone/>
              <a:defRPr sz="35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 Medium"/>
              <a:buNone/>
              <a:defRPr sz="35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 Medium"/>
              <a:buNone/>
              <a:defRPr sz="35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 Medium"/>
              <a:buNone/>
              <a:defRPr sz="35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 Medium"/>
              <a:buNone/>
              <a:defRPr sz="35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 Medium"/>
              <a:buNone/>
              <a:defRPr sz="35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 Medium"/>
              <a:buNone/>
              <a:defRPr sz="35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 Medium"/>
              <a:buNone/>
              <a:defRPr sz="35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 Coding"/>
              <a:buChar char="●"/>
              <a:defRPr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 Coding"/>
              <a:buChar char="○"/>
              <a:defRPr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 Coding"/>
              <a:buChar char="■"/>
              <a:defRPr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 Coding"/>
              <a:buChar char="●"/>
              <a:defRPr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 Coding"/>
              <a:buChar char="○"/>
              <a:defRPr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 Coding"/>
              <a:buChar char="■"/>
              <a:defRPr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 Coding"/>
              <a:buChar char="●"/>
              <a:defRPr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 Coding"/>
              <a:buChar char="○"/>
              <a:defRPr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 Coding"/>
              <a:buChar char="■"/>
              <a:defRPr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69" r:id="rId4"/>
    <p:sldLayoutId id="2147483670" r:id="rId5"/>
    <p:sldLayoutId id="2147483675" r:id="rId6"/>
    <p:sldLayoutId id="2147483676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31.png"/><Relationship Id="rId7" Type="http://schemas.openxmlformats.org/officeDocument/2006/relationships/image" Target="../media/image2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10" Type="http://schemas.openxmlformats.org/officeDocument/2006/relationships/image" Target="../media/image36.svg"/><Relationship Id="rId4" Type="http://schemas.openxmlformats.org/officeDocument/2006/relationships/image" Target="../media/image32.svg"/><Relationship Id="rId9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28.png"/><Relationship Id="rId7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29.svg"/><Relationship Id="rId9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10" Type="http://schemas.openxmlformats.org/officeDocument/2006/relationships/image" Target="../media/image52.svg"/><Relationship Id="rId4" Type="http://schemas.openxmlformats.org/officeDocument/2006/relationships/image" Target="../media/image46.svg"/><Relationship Id="rId9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>
            <a:spLocks noGrp="1"/>
          </p:cNvSpPr>
          <p:nvPr>
            <p:ph type="ctrTitle"/>
          </p:nvPr>
        </p:nvSpPr>
        <p:spPr>
          <a:xfrm>
            <a:off x="3245050" y="1504708"/>
            <a:ext cx="5216951" cy="7188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600" b="1" dirty="0">
                <a:latin typeface="Calibri" panose="020F0502020204030204" pitchFamily="34" charset="0"/>
                <a:cs typeface="Calibri" panose="020F0502020204030204" pitchFamily="34" charset="0"/>
              </a:rPr>
              <a:t>Modelos de Difusão</a:t>
            </a:r>
            <a:endParaRPr sz="115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2" name="Google Shape;182;p34"/>
          <p:cNvSpPr txBox="1">
            <a:spLocks noGrp="1"/>
          </p:cNvSpPr>
          <p:nvPr>
            <p:ph type="subTitle" idx="1"/>
          </p:nvPr>
        </p:nvSpPr>
        <p:spPr>
          <a:xfrm>
            <a:off x="3402501" y="3221192"/>
            <a:ext cx="5059500" cy="70730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pt-PT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2º Semestre 1º Ano Mestrado em Engenharia Informática</a:t>
            </a:r>
            <a:endParaRPr lang="en-US" b="1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/>
            <a:r>
              <a:rPr lang="pt-PT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Escola de Engenharia – Universidade do Minho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pic>
        <p:nvPicPr>
          <p:cNvPr id="183" name="Google Shape;183;p34"/>
          <p:cNvPicPr preferRelativeResize="0"/>
          <p:nvPr/>
        </p:nvPicPr>
        <p:blipFill rotWithShape="1">
          <a:blip r:embed="rId3">
            <a:alphaModFix/>
          </a:blip>
          <a:srcRect r="60176"/>
          <a:stretch/>
        </p:blipFill>
        <p:spPr>
          <a:xfrm>
            <a:off x="-205875" y="69408"/>
            <a:ext cx="3641477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m 4">
            <a:extLst>
              <a:ext uri="{FF2B5EF4-FFF2-40B4-BE49-F238E27FC236}">
                <a16:creationId xmlns:a16="http://schemas.microsoft.com/office/drawing/2014/main" id="{6EB0C891-189B-3111-7B7F-0BE34C205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8" y="-501"/>
            <a:ext cx="685800" cy="361950"/>
          </a:xfrm>
          <a:prstGeom prst="rect">
            <a:avLst/>
          </a:prstGeom>
        </p:spPr>
      </p:pic>
      <p:sp>
        <p:nvSpPr>
          <p:cNvPr id="3" name="Google Shape;766;p94">
            <a:extLst>
              <a:ext uri="{FF2B5EF4-FFF2-40B4-BE49-F238E27FC236}">
                <a16:creationId xmlns:a16="http://schemas.microsoft.com/office/drawing/2014/main" id="{21B931E7-D4C4-582B-98DF-3D764201739D}"/>
              </a:ext>
            </a:extLst>
          </p:cNvPr>
          <p:cNvSpPr txBox="1">
            <a:spLocks/>
          </p:cNvSpPr>
          <p:nvPr/>
        </p:nvSpPr>
        <p:spPr>
          <a:xfrm>
            <a:off x="6991200" y="4436198"/>
            <a:ext cx="2152800" cy="707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 Light"/>
              <a:buNone/>
              <a:defRPr sz="16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None/>
              <a:defRPr sz="14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None/>
              <a:defRPr sz="14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None/>
              <a:defRPr sz="14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None/>
              <a:defRPr sz="14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None/>
              <a:defRPr sz="14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None/>
              <a:defRPr sz="14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None/>
              <a:defRPr sz="14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 Condensed Light"/>
              <a:buNone/>
              <a:defRPr sz="14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indent="0" algn="l">
              <a:buClr>
                <a:schemeClr val="bg1"/>
              </a:buClr>
              <a:buSzPct val="100000"/>
            </a:pPr>
            <a:r>
              <a:rPr lang="pt-PT" sz="11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Trabalho realizado por:</a:t>
            </a:r>
          </a:p>
          <a:p>
            <a:pPr marL="285750" indent="-285750" algn="l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pt-PT" sz="11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José Magalhães PG50528</a:t>
            </a:r>
          </a:p>
          <a:p>
            <a:pPr marL="285750" indent="-285750" algn="l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pt-PT" sz="11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Francisco Izquierdo PG50384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SETORES DA INTELIGÊNCIA ARTIFICIAL</a:t>
            </a:r>
            <a:endParaRPr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8" name="Google Shape;248;p40"/>
          <p:cNvSpPr txBox="1">
            <a:spLocks noGrp="1"/>
          </p:cNvSpPr>
          <p:nvPr>
            <p:ph type="subTitle" idx="6"/>
          </p:nvPr>
        </p:nvSpPr>
        <p:spPr>
          <a:xfrm>
            <a:off x="6516078" y="2037820"/>
            <a:ext cx="2336400" cy="69039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b="1" dirty="0">
                <a:latin typeface="Calibri" panose="020F0502020204030204" pitchFamily="34" charset="0"/>
                <a:cs typeface="Calibri" panose="020F0502020204030204" pitchFamily="34" charset="0"/>
              </a:rPr>
              <a:t>Aprendizagem Profunda</a:t>
            </a:r>
            <a:endParaRPr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9" name="Google Shape;249;p40"/>
          <p:cNvSpPr txBox="1">
            <a:spLocks noGrp="1"/>
          </p:cNvSpPr>
          <p:nvPr>
            <p:ph type="subTitle" idx="1"/>
          </p:nvPr>
        </p:nvSpPr>
        <p:spPr>
          <a:xfrm>
            <a:off x="306387" y="2037820"/>
            <a:ext cx="2336400" cy="69039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Calibri" panose="020F0502020204030204" pitchFamily="34" charset="0"/>
                <a:cs typeface="Calibri" panose="020F0502020204030204" pitchFamily="34" charset="0"/>
              </a:rPr>
              <a:t>Inteligência Artificial</a:t>
            </a:r>
            <a:endParaRPr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0" name="Google Shape;250;p40"/>
          <p:cNvSpPr txBox="1">
            <a:spLocks noGrp="1"/>
          </p:cNvSpPr>
          <p:nvPr>
            <p:ph type="subTitle" idx="2"/>
          </p:nvPr>
        </p:nvSpPr>
        <p:spPr>
          <a:xfrm>
            <a:off x="360028" y="2706881"/>
            <a:ext cx="2336400" cy="11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>
                <a:latin typeface="Calibri" panose="020F0502020204030204" pitchFamily="34" charset="0"/>
                <a:cs typeface="Calibri" panose="020F0502020204030204" pitchFamily="34" charset="0"/>
              </a:rPr>
              <a:t>Sistemas que conseguem realizar tarefas de forma autónoma</a:t>
            </a:r>
            <a:endParaRPr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1" name="Google Shape;251;p40"/>
          <p:cNvSpPr txBox="1">
            <a:spLocks noGrp="1"/>
          </p:cNvSpPr>
          <p:nvPr>
            <p:ph type="subTitle" idx="3"/>
          </p:nvPr>
        </p:nvSpPr>
        <p:spPr>
          <a:xfrm>
            <a:off x="3104896" y="2705724"/>
            <a:ext cx="3151904" cy="24377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pt-PT" b="1" i="0" dirty="0">
                <a:solidFill>
                  <a:schemeClr val="accent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istemas autónomos com capacidade de aprendizagem sem terem de ser declaradas regras de ação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pt-PT" b="1" i="0" dirty="0">
              <a:solidFill>
                <a:schemeClr val="accent6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pt-PT" b="1" i="0" dirty="0">
                <a:solidFill>
                  <a:schemeClr val="accent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Aprendizagem Supervisionada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pt-PT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Aprendizagem Não Supervisionada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pt-PT" b="1" i="0" dirty="0">
                <a:solidFill>
                  <a:schemeClr val="accent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Aprendizagem Por Reforço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pt-PT" b="1" i="0" dirty="0">
              <a:solidFill>
                <a:schemeClr val="accent6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2" name="Google Shape;252;p40"/>
          <p:cNvSpPr txBox="1">
            <a:spLocks noGrp="1"/>
          </p:cNvSpPr>
          <p:nvPr>
            <p:ph type="subTitle" idx="4"/>
          </p:nvPr>
        </p:nvSpPr>
        <p:spPr>
          <a:xfrm>
            <a:off x="6484369" y="2652208"/>
            <a:ext cx="2336400" cy="16317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>
                <a:latin typeface="Calibri" panose="020F0502020204030204" pitchFamily="34" charset="0"/>
                <a:cs typeface="Calibri" panose="020F0502020204030204" pitchFamily="34" charset="0"/>
              </a:rPr>
              <a:t>Sistemas que se inserem no âmbito de aprendizagem máquina, mas cujos algoritmos de aprendizagem são redes neurais artificiais</a:t>
            </a:r>
            <a:endParaRPr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3" name="Google Shape;253;p40"/>
          <p:cNvSpPr txBox="1">
            <a:spLocks noGrp="1"/>
          </p:cNvSpPr>
          <p:nvPr>
            <p:ph type="subTitle" idx="5"/>
          </p:nvPr>
        </p:nvSpPr>
        <p:spPr>
          <a:xfrm>
            <a:off x="3422199" y="2048868"/>
            <a:ext cx="2336400" cy="66829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Calibri" panose="020F0502020204030204" pitchFamily="34" charset="0"/>
                <a:cs typeface="Calibri" panose="020F0502020204030204" pitchFamily="34" charset="0"/>
              </a:rPr>
              <a:t>Aprendizagem Máquina</a:t>
            </a:r>
            <a:endParaRPr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4" name="Google Shape;254;p40"/>
          <p:cNvSpPr/>
          <p:nvPr/>
        </p:nvSpPr>
        <p:spPr>
          <a:xfrm>
            <a:off x="785533" y="1259416"/>
            <a:ext cx="1388400" cy="713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381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40"/>
          <p:cNvSpPr/>
          <p:nvPr/>
        </p:nvSpPr>
        <p:spPr>
          <a:xfrm>
            <a:off x="3877800" y="1259416"/>
            <a:ext cx="1388400" cy="713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381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40"/>
          <p:cNvSpPr/>
          <p:nvPr/>
        </p:nvSpPr>
        <p:spPr>
          <a:xfrm>
            <a:off x="6958369" y="1259416"/>
            <a:ext cx="1388400" cy="713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381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" name="Google Shape;257;p40">
            <a:extLst>
              <a:ext uri="{FF2B5EF4-FFF2-40B4-BE49-F238E27FC236}">
                <a16:creationId xmlns:a16="http://schemas.microsoft.com/office/drawing/2014/main" id="{D68E77EF-7D7A-AD63-9C45-9D7D5C8D6617}"/>
              </a:ext>
            </a:extLst>
          </p:cNvPr>
          <p:cNvGrpSpPr/>
          <p:nvPr/>
        </p:nvGrpSpPr>
        <p:grpSpPr>
          <a:xfrm>
            <a:off x="1347354" y="1322636"/>
            <a:ext cx="361747" cy="586959"/>
            <a:chOff x="2691555" y="2884503"/>
            <a:chExt cx="215044" cy="348924"/>
          </a:xfrm>
        </p:grpSpPr>
        <p:sp>
          <p:nvSpPr>
            <p:cNvPr id="7" name="Google Shape;258;p40">
              <a:extLst>
                <a:ext uri="{FF2B5EF4-FFF2-40B4-BE49-F238E27FC236}">
                  <a16:creationId xmlns:a16="http://schemas.microsoft.com/office/drawing/2014/main" id="{A3A97899-76B6-ACBC-ECB8-89E024756D9A}"/>
                </a:ext>
              </a:extLst>
            </p:cNvPr>
            <p:cNvSpPr/>
            <p:nvPr/>
          </p:nvSpPr>
          <p:spPr>
            <a:xfrm>
              <a:off x="2691555" y="2884503"/>
              <a:ext cx="215044" cy="348924"/>
            </a:xfrm>
            <a:custGeom>
              <a:avLst/>
              <a:gdLst/>
              <a:ahLst/>
              <a:cxnLst/>
              <a:rect l="l" t="t" r="r" b="b"/>
              <a:pathLst>
                <a:path w="6788" h="11014" extrusionOk="0">
                  <a:moveTo>
                    <a:pt x="632" y="4941"/>
                  </a:moveTo>
                  <a:lnTo>
                    <a:pt x="632" y="5394"/>
                  </a:lnTo>
                  <a:lnTo>
                    <a:pt x="441" y="5394"/>
                  </a:lnTo>
                  <a:lnTo>
                    <a:pt x="632" y="4941"/>
                  </a:lnTo>
                  <a:close/>
                  <a:moveTo>
                    <a:pt x="3703" y="0"/>
                  </a:moveTo>
                  <a:cubicBezTo>
                    <a:pt x="2013" y="0"/>
                    <a:pt x="632" y="1346"/>
                    <a:pt x="632" y="2989"/>
                  </a:cubicBezTo>
                  <a:lnTo>
                    <a:pt x="632" y="4179"/>
                  </a:lnTo>
                  <a:lnTo>
                    <a:pt x="36" y="5489"/>
                  </a:lnTo>
                  <a:cubicBezTo>
                    <a:pt x="1" y="5537"/>
                    <a:pt x="13" y="5596"/>
                    <a:pt x="48" y="5644"/>
                  </a:cubicBezTo>
                  <a:cubicBezTo>
                    <a:pt x="72" y="5692"/>
                    <a:pt x="120" y="5715"/>
                    <a:pt x="179" y="5715"/>
                  </a:cubicBezTo>
                  <a:lnTo>
                    <a:pt x="632" y="5715"/>
                  </a:lnTo>
                  <a:lnTo>
                    <a:pt x="632" y="6965"/>
                  </a:lnTo>
                  <a:cubicBezTo>
                    <a:pt x="632" y="7335"/>
                    <a:pt x="941" y="7656"/>
                    <a:pt x="1310" y="7656"/>
                  </a:cubicBezTo>
                  <a:lnTo>
                    <a:pt x="2156" y="7656"/>
                  </a:lnTo>
                  <a:lnTo>
                    <a:pt x="2156" y="8704"/>
                  </a:lnTo>
                  <a:lnTo>
                    <a:pt x="751" y="10775"/>
                  </a:lnTo>
                  <a:cubicBezTo>
                    <a:pt x="703" y="10835"/>
                    <a:pt x="703" y="10906"/>
                    <a:pt x="751" y="10954"/>
                  </a:cubicBezTo>
                  <a:cubicBezTo>
                    <a:pt x="775" y="11002"/>
                    <a:pt x="822" y="11014"/>
                    <a:pt x="882" y="11014"/>
                  </a:cubicBezTo>
                  <a:lnTo>
                    <a:pt x="929" y="11014"/>
                  </a:lnTo>
                  <a:lnTo>
                    <a:pt x="2394" y="10585"/>
                  </a:lnTo>
                  <a:cubicBezTo>
                    <a:pt x="2489" y="10549"/>
                    <a:pt x="2537" y="10466"/>
                    <a:pt x="2501" y="10394"/>
                  </a:cubicBezTo>
                  <a:cubicBezTo>
                    <a:pt x="2482" y="10328"/>
                    <a:pt x="2418" y="10277"/>
                    <a:pt x="2356" y="10277"/>
                  </a:cubicBezTo>
                  <a:cubicBezTo>
                    <a:pt x="2340" y="10277"/>
                    <a:pt x="2325" y="10280"/>
                    <a:pt x="2310" y="10287"/>
                  </a:cubicBezTo>
                  <a:lnTo>
                    <a:pt x="1263" y="10597"/>
                  </a:lnTo>
                  <a:lnTo>
                    <a:pt x="2441" y="8859"/>
                  </a:lnTo>
                  <a:cubicBezTo>
                    <a:pt x="2453" y="8823"/>
                    <a:pt x="2477" y="8799"/>
                    <a:pt x="2477" y="8763"/>
                  </a:cubicBezTo>
                  <a:lnTo>
                    <a:pt x="2477" y="7608"/>
                  </a:lnTo>
                  <a:lnTo>
                    <a:pt x="3453" y="7073"/>
                  </a:lnTo>
                  <a:cubicBezTo>
                    <a:pt x="3537" y="7025"/>
                    <a:pt x="3561" y="6942"/>
                    <a:pt x="3513" y="6846"/>
                  </a:cubicBezTo>
                  <a:cubicBezTo>
                    <a:pt x="3488" y="6797"/>
                    <a:pt x="3436" y="6765"/>
                    <a:pt x="3378" y="6765"/>
                  </a:cubicBezTo>
                  <a:cubicBezTo>
                    <a:pt x="3352" y="6765"/>
                    <a:pt x="3325" y="6772"/>
                    <a:pt x="3299" y="6787"/>
                  </a:cubicBezTo>
                  <a:lnTo>
                    <a:pt x="2263" y="7358"/>
                  </a:lnTo>
                  <a:lnTo>
                    <a:pt x="1298" y="7358"/>
                  </a:lnTo>
                  <a:cubicBezTo>
                    <a:pt x="1108" y="7358"/>
                    <a:pt x="941" y="7192"/>
                    <a:pt x="941" y="7001"/>
                  </a:cubicBezTo>
                  <a:lnTo>
                    <a:pt x="941" y="6549"/>
                  </a:lnTo>
                  <a:lnTo>
                    <a:pt x="1775" y="6549"/>
                  </a:lnTo>
                  <a:cubicBezTo>
                    <a:pt x="1870" y="6549"/>
                    <a:pt x="1941" y="6477"/>
                    <a:pt x="1941" y="6382"/>
                  </a:cubicBezTo>
                  <a:cubicBezTo>
                    <a:pt x="1941" y="6299"/>
                    <a:pt x="1870" y="6227"/>
                    <a:pt x="1775" y="6227"/>
                  </a:cubicBezTo>
                  <a:lnTo>
                    <a:pt x="941" y="6227"/>
                  </a:lnTo>
                  <a:lnTo>
                    <a:pt x="941" y="3025"/>
                  </a:lnTo>
                  <a:cubicBezTo>
                    <a:pt x="941" y="1548"/>
                    <a:pt x="2179" y="358"/>
                    <a:pt x="3715" y="358"/>
                  </a:cubicBezTo>
                  <a:cubicBezTo>
                    <a:pt x="5239" y="358"/>
                    <a:pt x="6478" y="1548"/>
                    <a:pt x="6478" y="3025"/>
                  </a:cubicBezTo>
                  <a:cubicBezTo>
                    <a:pt x="6478" y="4263"/>
                    <a:pt x="5811" y="5406"/>
                    <a:pt x="4727" y="6013"/>
                  </a:cubicBezTo>
                  <a:lnTo>
                    <a:pt x="3954" y="6442"/>
                  </a:lnTo>
                  <a:cubicBezTo>
                    <a:pt x="3870" y="6489"/>
                    <a:pt x="3846" y="6584"/>
                    <a:pt x="3894" y="6668"/>
                  </a:cubicBezTo>
                  <a:cubicBezTo>
                    <a:pt x="3918" y="6717"/>
                    <a:pt x="3971" y="6749"/>
                    <a:pt x="4029" y="6749"/>
                  </a:cubicBezTo>
                  <a:cubicBezTo>
                    <a:pt x="4055" y="6749"/>
                    <a:pt x="4082" y="6742"/>
                    <a:pt x="4108" y="6727"/>
                  </a:cubicBezTo>
                  <a:lnTo>
                    <a:pt x="4882" y="6299"/>
                  </a:lnTo>
                  <a:cubicBezTo>
                    <a:pt x="4918" y="6287"/>
                    <a:pt x="4930" y="6263"/>
                    <a:pt x="4966" y="6251"/>
                  </a:cubicBezTo>
                  <a:lnTo>
                    <a:pt x="4966" y="8525"/>
                  </a:lnTo>
                  <a:cubicBezTo>
                    <a:pt x="4966" y="8573"/>
                    <a:pt x="4977" y="8609"/>
                    <a:pt x="5001" y="8632"/>
                  </a:cubicBezTo>
                  <a:lnTo>
                    <a:pt x="5620" y="9323"/>
                  </a:lnTo>
                  <a:lnTo>
                    <a:pt x="2965" y="10109"/>
                  </a:lnTo>
                  <a:cubicBezTo>
                    <a:pt x="2882" y="10133"/>
                    <a:pt x="2834" y="10228"/>
                    <a:pt x="2858" y="10299"/>
                  </a:cubicBezTo>
                  <a:cubicBezTo>
                    <a:pt x="2882" y="10371"/>
                    <a:pt x="2953" y="10418"/>
                    <a:pt x="3013" y="10418"/>
                  </a:cubicBezTo>
                  <a:lnTo>
                    <a:pt x="3061" y="10418"/>
                  </a:lnTo>
                  <a:lnTo>
                    <a:pt x="5942" y="9573"/>
                  </a:lnTo>
                  <a:cubicBezTo>
                    <a:pt x="6001" y="9549"/>
                    <a:pt x="6037" y="9513"/>
                    <a:pt x="6049" y="9466"/>
                  </a:cubicBezTo>
                  <a:cubicBezTo>
                    <a:pt x="6061" y="9406"/>
                    <a:pt x="6049" y="9359"/>
                    <a:pt x="6013" y="9311"/>
                  </a:cubicBezTo>
                  <a:lnTo>
                    <a:pt x="5263" y="8442"/>
                  </a:lnTo>
                  <a:lnTo>
                    <a:pt x="5263" y="6013"/>
                  </a:lnTo>
                  <a:cubicBezTo>
                    <a:pt x="6216" y="5311"/>
                    <a:pt x="6787" y="4203"/>
                    <a:pt x="6787" y="2989"/>
                  </a:cubicBezTo>
                  <a:cubicBezTo>
                    <a:pt x="6787" y="1346"/>
                    <a:pt x="5406" y="0"/>
                    <a:pt x="37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59;p40">
              <a:extLst>
                <a:ext uri="{FF2B5EF4-FFF2-40B4-BE49-F238E27FC236}">
                  <a16:creationId xmlns:a16="http://schemas.microsoft.com/office/drawing/2014/main" id="{A030E7B8-3C74-7D1E-E09D-B71471ED1CBE}"/>
                </a:ext>
              </a:extLst>
            </p:cNvPr>
            <p:cNvSpPr/>
            <p:nvPr/>
          </p:nvSpPr>
          <p:spPr>
            <a:xfrm>
              <a:off x="2754535" y="2907503"/>
              <a:ext cx="126783" cy="127164"/>
            </a:xfrm>
            <a:custGeom>
              <a:avLst/>
              <a:gdLst/>
              <a:ahLst/>
              <a:cxnLst/>
              <a:rect l="l" t="t" r="r" b="b"/>
              <a:pathLst>
                <a:path w="4002" h="4014" extrusionOk="0">
                  <a:moveTo>
                    <a:pt x="1989" y="1"/>
                  </a:moveTo>
                  <a:cubicBezTo>
                    <a:pt x="953" y="1"/>
                    <a:pt x="72" y="822"/>
                    <a:pt x="1" y="1870"/>
                  </a:cubicBezTo>
                  <a:cubicBezTo>
                    <a:pt x="1" y="1953"/>
                    <a:pt x="61" y="2025"/>
                    <a:pt x="144" y="2048"/>
                  </a:cubicBezTo>
                  <a:cubicBezTo>
                    <a:pt x="239" y="2048"/>
                    <a:pt x="311" y="1989"/>
                    <a:pt x="322" y="1894"/>
                  </a:cubicBezTo>
                  <a:cubicBezTo>
                    <a:pt x="382" y="1013"/>
                    <a:pt x="1108" y="346"/>
                    <a:pt x="1989" y="346"/>
                  </a:cubicBezTo>
                  <a:cubicBezTo>
                    <a:pt x="2918" y="346"/>
                    <a:pt x="3656" y="1096"/>
                    <a:pt x="3656" y="2013"/>
                  </a:cubicBezTo>
                  <a:cubicBezTo>
                    <a:pt x="3656" y="2941"/>
                    <a:pt x="2918" y="3680"/>
                    <a:pt x="1989" y="3680"/>
                  </a:cubicBezTo>
                  <a:cubicBezTo>
                    <a:pt x="1251" y="3680"/>
                    <a:pt x="596" y="3191"/>
                    <a:pt x="382" y="2477"/>
                  </a:cubicBezTo>
                  <a:cubicBezTo>
                    <a:pt x="363" y="2401"/>
                    <a:pt x="298" y="2363"/>
                    <a:pt x="236" y="2363"/>
                  </a:cubicBezTo>
                  <a:cubicBezTo>
                    <a:pt x="221" y="2363"/>
                    <a:pt x="206" y="2365"/>
                    <a:pt x="191" y="2370"/>
                  </a:cubicBezTo>
                  <a:cubicBezTo>
                    <a:pt x="96" y="2406"/>
                    <a:pt x="61" y="2489"/>
                    <a:pt x="84" y="2560"/>
                  </a:cubicBezTo>
                  <a:cubicBezTo>
                    <a:pt x="322" y="3418"/>
                    <a:pt x="1108" y="4013"/>
                    <a:pt x="2001" y="4013"/>
                  </a:cubicBezTo>
                  <a:cubicBezTo>
                    <a:pt x="3109" y="4013"/>
                    <a:pt x="4001" y="3120"/>
                    <a:pt x="4001" y="2013"/>
                  </a:cubicBezTo>
                  <a:cubicBezTo>
                    <a:pt x="3990" y="917"/>
                    <a:pt x="3097" y="1"/>
                    <a:pt x="19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60;p40">
              <a:extLst>
                <a:ext uri="{FF2B5EF4-FFF2-40B4-BE49-F238E27FC236}">
                  <a16:creationId xmlns:a16="http://schemas.microsoft.com/office/drawing/2014/main" id="{A506C4D6-F78E-3CDC-9040-27A0C653D8D3}"/>
                </a:ext>
              </a:extLst>
            </p:cNvPr>
            <p:cNvSpPr/>
            <p:nvPr/>
          </p:nvSpPr>
          <p:spPr>
            <a:xfrm>
              <a:off x="2781336" y="2931263"/>
              <a:ext cx="74321" cy="74353"/>
            </a:xfrm>
            <a:custGeom>
              <a:avLst/>
              <a:gdLst/>
              <a:ahLst/>
              <a:cxnLst/>
              <a:rect l="l" t="t" r="r" b="b"/>
              <a:pathLst>
                <a:path w="2346" h="2347" extrusionOk="0">
                  <a:moveTo>
                    <a:pt x="1465" y="310"/>
                  </a:moveTo>
                  <a:cubicBezTo>
                    <a:pt x="1620" y="310"/>
                    <a:pt x="1751" y="370"/>
                    <a:pt x="1858" y="477"/>
                  </a:cubicBezTo>
                  <a:cubicBezTo>
                    <a:pt x="1965" y="584"/>
                    <a:pt x="2024" y="715"/>
                    <a:pt x="2024" y="858"/>
                  </a:cubicBezTo>
                  <a:cubicBezTo>
                    <a:pt x="2024" y="1013"/>
                    <a:pt x="1965" y="1144"/>
                    <a:pt x="1858" y="1251"/>
                  </a:cubicBezTo>
                  <a:cubicBezTo>
                    <a:pt x="1751" y="1358"/>
                    <a:pt x="1620" y="1418"/>
                    <a:pt x="1465" y="1418"/>
                  </a:cubicBezTo>
                  <a:cubicBezTo>
                    <a:pt x="1322" y="1418"/>
                    <a:pt x="1191" y="1358"/>
                    <a:pt x="1084" y="1251"/>
                  </a:cubicBezTo>
                  <a:cubicBezTo>
                    <a:pt x="869" y="1037"/>
                    <a:pt x="869" y="679"/>
                    <a:pt x="1084" y="477"/>
                  </a:cubicBezTo>
                  <a:cubicBezTo>
                    <a:pt x="1191" y="370"/>
                    <a:pt x="1322" y="310"/>
                    <a:pt x="1465" y="310"/>
                  </a:cubicBezTo>
                  <a:close/>
                  <a:moveTo>
                    <a:pt x="1489" y="1"/>
                  </a:moveTo>
                  <a:cubicBezTo>
                    <a:pt x="1262" y="1"/>
                    <a:pt x="1036" y="84"/>
                    <a:pt x="869" y="251"/>
                  </a:cubicBezTo>
                  <a:cubicBezTo>
                    <a:pt x="572" y="548"/>
                    <a:pt x="536" y="1025"/>
                    <a:pt x="774" y="1370"/>
                  </a:cubicBezTo>
                  <a:lnTo>
                    <a:pt x="60" y="2084"/>
                  </a:lnTo>
                  <a:cubicBezTo>
                    <a:pt x="0" y="2144"/>
                    <a:pt x="0" y="2239"/>
                    <a:pt x="60" y="2299"/>
                  </a:cubicBezTo>
                  <a:cubicBezTo>
                    <a:pt x="84" y="2334"/>
                    <a:pt x="131" y="2346"/>
                    <a:pt x="179" y="2346"/>
                  </a:cubicBezTo>
                  <a:cubicBezTo>
                    <a:pt x="215" y="2346"/>
                    <a:pt x="262" y="2334"/>
                    <a:pt x="298" y="2299"/>
                  </a:cubicBezTo>
                  <a:lnTo>
                    <a:pt x="1012" y="1584"/>
                  </a:lnTo>
                  <a:cubicBezTo>
                    <a:pt x="1155" y="1691"/>
                    <a:pt x="1322" y="1739"/>
                    <a:pt x="1501" y="1739"/>
                  </a:cubicBezTo>
                  <a:cubicBezTo>
                    <a:pt x="1739" y="1739"/>
                    <a:pt x="1941" y="1644"/>
                    <a:pt x="2108" y="1489"/>
                  </a:cubicBezTo>
                  <a:cubicBezTo>
                    <a:pt x="2263" y="1310"/>
                    <a:pt x="2346" y="1096"/>
                    <a:pt x="2346" y="858"/>
                  </a:cubicBezTo>
                  <a:cubicBezTo>
                    <a:pt x="2346" y="620"/>
                    <a:pt x="2263" y="417"/>
                    <a:pt x="2096" y="251"/>
                  </a:cubicBezTo>
                  <a:cubicBezTo>
                    <a:pt x="1929" y="84"/>
                    <a:pt x="1703" y="1"/>
                    <a:pt x="14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Freeform 108">
            <a:extLst>
              <a:ext uri="{FF2B5EF4-FFF2-40B4-BE49-F238E27FC236}">
                <a16:creationId xmlns:a16="http://schemas.microsoft.com/office/drawing/2014/main" id="{185D71F7-FED3-8EE7-7066-FD64A27A2505}"/>
              </a:ext>
            </a:extLst>
          </p:cNvPr>
          <p:cNvSpPr/>
          <p:nvPr/>
        </p:nvSpPr>
        <p:spPr>
          <a:xfrm>
            <a:off x="7439772" y="1322636"/>
            <a:ext cx="501857" cy="554554"/>
          </a:xfrm>
          <a:custGeom>
            <a:avLst/>
            <a:gdLst/>
            <a:ahLst/>
            <a:cxnLst/>
            <a:rect l="l" t="t" r="r" b="b"/>
            <a:pathLst>
              <a:path w="341005" h="376812">
                <a:moveTo>
                  <a:pt x="179590" y="105941"/>
                </a:moveTo>
                <a:cubicBezTo>
                  <a:pt x="189466" y="103284"/>
                  <a:pt x="200229" y="106383"/>
                  <a:pt x="207502" y="113978"/>
                </a:cubicBezTo>
                <a:lnTo>
                  <a:pt x="205155" y="116193"/>
                </a:lnTo>
                <a:cubicBezTo>
                  <a:pt x="198727" y="109493"/>
                  <a:pt x="189244" y="106732"/>
                  <a:pt x="180543" y="109027"/>
                </a:cubicBezTo>
                <a:cubicBezTo>
                  <a:pt x="171284" y="111470"/>
                  <a:pt x="164597" y="119184"/>
                  <a:pt x="163491" y="128699"/>
                </a:cubicBezTo>
                <a:lnTo>
                  <a:pt x="160301" y="128192"/>
                </a:lnTo>
                <a:cubicBezTo>
                  <a:pt x="160626" y="125509"/>
                  <a:pt x="161343" y="122953"/>
                  <a:pt x="162397" y="120583"/>
                </a:cubicBezTo>
                <a:cubicBezTo>
                  <a:pt x="163188" y="118806"/>
                  <a:pt x="164168" y="117134"/>
                  <a:pt x="165317" y="115593"/>
                </a:cubicBezTo>
                <a:close/>
                <a:moveTo>
                  <a:pt x="184774" y="76800"/>
                </a:moveTo>
                <a:cubicBezTo>
                  <a:pt x="189722" y="75892"/>
                  <a:pt x="194950" y="76276"/>
                  <a:pt x="199898" y="78055"/>
                </a:cubicBezTo>
                <a:lnTo>
                  <a:pt x="198784" y="81085"/>
                </a:lnTo>
                <a:cubicBezTo>
                  <a:pt x="190044" y="77951"/>
                  <a:pt x="180324" y="79705"/>
                  <a:pt x="173557" y="85636"/>
                </a:cubicBezTo>
                <a:cubicBezTo>
                  <a:pt x="166357" y="91948"/>
                  <a:pt x="163808" y="101834"/>
                  <a:pt x="167057" y="110845"/>
                </a:cubicBezTo>
                <a:lnTo>
                  <a:pt x="163976" y="111813"/>
                </a:lnTo>
                <a:cubicBezTo>
                  <a:pt x="161264" y="104174"/>
                  <a:pt x="162206" y="95982"/>
                  <a:pt x="166259" y="89343"/>
                </a:cubicBezTo>
                <a:lnTo>
                  <a:pt x="171329" y="83298"/>
                </a:lnTo>
                <a:cubicBezTo>
                  <a:pt x="175158" y="79908"/>
                  <a:pt x="179826" y="77708"/>
                  <a:pt x="184774" y="76800"/>
                </a:cubicBezTo>
                <a:close/>
                <a:moveTo>
                  <a:pt x="179076" y="24908"/>
                </a:moveTo>
                <a:cubicBezTo>
                  <a:pt x="173882" y="25821"/>
                  <a:pt x="169065" y="28595"/>
                  <a:pt x="165693" y="33023"/>
                </a:cubicBezTo>
                <a:lnTo>
                  <a:pt x="165081" y="32645"/>
                </a:lnTo>
                <a:lnTo>
                  <a:pt x="164343" y="33841"/>
                </a:lnTo>
                <a:lnTo>
                  <a:pt x="159156" y="28989"/>
                </a:lnTo>
                <a:cubicBezTo>
                  <a:pt x="147650" y="21890"/>
                  <a:pt x="132568" y="25462"/>
                  <a:pt x="125468" y="36968"/>
                </a:cubicBezTo>
                <a:cubicBezTo>
                  <a:pt x="125028" y="37682"/>
                  <a:pt x="124628" y="38410"/>
                  <a:pt x="124607" y="39302"/>
                </a:cubicBezTo>
                <a:cubicBezTo>
                  <a:pt x="121192" y="53871"/>
                  <a:pt x="126621" y="67918"/>
                  <a:pt x="137512" y="72288"/>
                </a:cubicBezTo>
                <a:lnTo>
                  <a:pt x="136408" y="75373"/>
                </a:lnTo>
                <a:cubicBezTo>
                  <a:pt x="125065" y="70889"/>
                  <a:pt x="118824" y="57470"/>
                  <a:pt x="120792" y="42874"/>
                </a:cubicBezTo>
                <a:cubicBezTo>
                  <a:pt x="110219" y="38045"/>
                  <a:pt x="97555" y="41998"/>
                  <a:pt x="91229" y="52250"/>
                </a:cubicBezTo>
                <a:cubicBezTo>
                  <a:pt x="86215" y="60377"/>
                  <a:pt x="87164" y="68019"/>
                  <a:pt x="90995" y="75559"/>
                </a:cubicBezTo>
                <a:cubicBezTo>
                  <a:pt x="88405" y="77546"/>
                  <a:pt x="86197" y="80074"/>
                  <a:pt x="84391" y="83001"/>
                </a:cubicBezTo>
                <a:cubicBezTo>
                  <a:pt x="75261" y="97799"/>
                  <a:pt x="79855" y="117197"/>
                  <a:pt x="94653" y="126328"/>
                </a:cubicBezTo>
                <a:cubicBezTo>
                  <a:pt x="99603" y="129383"/>
                  <a:pt x="105068" y="130901"/>
                  <a:pt x="110449" y="130283"/>
                </a:cubicBezTo>
                <a:cubicBezTo>
                  <a:pt x="111461" y="121556"/>
                  <a:pt x="114239" y="112980"/>
                  <a:pt x="118788" y="105103"/>
                </a:cubicBezTo>
                <a:lnTo>
                  <a:pt x="122060" y="106993"/>
                </a:lnTo>
                <a:cubicBezTo>
                  <a:pt x="117549" y="114804"/>
                  <a:pt x="114885" y="123345"/>
                  <a:pt x="114602" y="132066"/>
                </a:cubicBezTo>
                <a:cubicBezTo>
                  <a:pt x="118189" y="142541"/>
                  <a:pt x="127538" y="149533"/>
                  <a:pt x="138054" y="150704"/>
                </a:cubicBezTo>
                <a:lnTo>
                  <a:pt x="138622" y="157584"/>
                </a:lnTo>
                <a:cubicBezTo>
                  <a:pt x="141809" y="168599"/>
                  <a:pt x="152592" y="175355"/>
                  <a:pt x="163536" y="173320"/>
                </a:cubicBezTo>
                <a:lnTo>
                  <a:pt x="163736" y="174011"/>
                </a:lnTo>
                <a:lnTo>
                  <a:pt x="165086" y="173621"/>
                </a:lnTo>
                <a:lnTo>
                  <a:pt x="165671" y="180699"/>
                </a:lnTo>
                <a:cubicBezTo>
                  <a:pt x="169429" y="193686"/>
                  <a:pt x="183003" y="201168"/>
                  <a:pt x="195990" y="197411"/>
                </a:cubicBezTo>
                <a:cubicBezTo>
                  <a:pt x="196796" y="197178"/>
                  <a:pt x="197581" y="196907"/>
                  <a:pt x="198196" y="196260"/>
                </a:cubicBezTo>
                <a:cubicBezTo>
                  <a:pt x="209934" y="188156"/>
                  <a:pt x="215400" y="175007"/>
                  <a:pt x="211155" y="164763"/>
                </a:cubicBezTo>
                <a:cubicBezTo>
                  <a:pt x="205121" y="170199"/>
                  <a:pt x="196738" y="172687"/>
                  <a:pt x="188343" y="171472"/>
                </a:cubicBezTo>
                <a:lnTo>
                  <a:pt x="188829" y="168281"/>
                </a:lnTo>
                <a:cubicBezTo>
                  <a:pt x="198020" y="169602"/>
                  <a:pt x="207192" y="165939"/>
                  <a:pt x="212635" y="158774"/>
                </a:cubicBezTo>
                <a:cubicBezTo>
                  <a:pt x="218427" y="151149"/>
                  <a:pt x="218946" y="140953"/>
                  <a:pt x="213960" y="132774"/>
                </a:cubicBezTo>
                <a:lnTo>
                  <a:pt x="216785" y="131210"/>
                </a:lnTo>
                <a:cubicBezTo>
                  <a:pt x="222366" y="140465"/>
                  <a:pt x="221779" y="151983"/>
                  <a:pt x="215286" y="160619"/>
                </a:cubicBezTo>
                <a:lnTo>
                  <a:pt x="213805" y="162105"/>
                </a:lnTo>
                <a:cubicBezTo>
                  <a:pt x="218946" y="172938"/>
                  <a:pt x="214526" y="186813"/>
                  <a:pt x="203421" y="196175"/>
                </a:cubicBezTo>
                <a:cubicBezTo>
                  <a:pt x="208012" y="206854"/>
                  <a:pt x="220050" y="212429"/>
                  <a:pt x="231622" y="209082"/>
                </a:cubicBezTo>
                <a:cubicBezTo>
                  <a:pt x="239377" y="206838"/>
                  <a:pt x="243741" y="201989"/>
                  <a:pt x="246092" y="195539"/>
                </a:cubicBezTo>
                <a:cubicBezTo>
                  <a:pt x="255042" y="199507"/>
                  <a:pt x="265290" y="198199"/>
                  <a:pt x="272958" y="192601"/>
                </a:cubicBezTo>
                <a:lnTo>
                  <a:pt x="276795" y="193971"/>
                </a:lnTo>
                <a:cubicBezTo>
                  <a:pt x="289009" y="194016"/>
                  <a:pt x="298363" y="193248"/>
                  <a:pt x="304258" y="183694"/>
                </a:cubicBezTo>
                <a:cubicBezTo>
                  <a:pt x="309343" y="175453"/>
                  <a:pt x="308953" y="165378"/>
                  <a:pt x="303795" y="157923"/>
                </a:cubicBezTo>
                <a:cubicBezTo>
                  <a:pt x="298315" y="164420"/>
                  <a:pt x="291041" y="168177"/>
                  <a:pt x="283702" y="168174"/>
                </a:cubicBezTo>
                <a:lnTo>
                  <a:pt x="283555" y="164527"/>
                </a:lnTo>
                <a:cubicBezTo>
                  <a:pt x="293404" y="164978"/>
                  <a:pt x="303289" y="157339"/>
                  <a:pt x="308110" y="145450"/>
                </a:cubicBezTo>
                <a:cubicBezTo>
                  <a:pt x="311022" y="136198"/>
                  <a:pt x="308752" y="126109"/>
                  <a:pt x="302169" y="119023"/>
                </a:cubicBezTo>
                <a:cubicBezTo>
                  <a:pt x="296249" y="127191"/>
                  <a:pt x="286098" y="131525"/>
                  <a:pt x="275782" y="130309"/>
                </a:cubicBezTo>
                <a:lnTo>
                  <a:pt x="276183" y="127106"/>
                </a:lnTo>
                <a:cubicBezTo>
                  <a:pt x="285405" y="128184"/>
                  <a:pt x="294478" y="124281"/>
                  <a:pt x="299730" y="116974"/>
                </a:cubicBezTo>
                <a:lnTo>
                  <a:pt x="300207" y="116045"/>
                </a:lnTo>
                <a:cubicBezTo>
                  <a:pt x="300079" y="107222"/>
                  <a:pt x="295342" y="98867"/>
                  <a:pt x="287259" y="93880"/>
                </a:cubicBezTo>
                <a:cubicBezTo>
                  <a:pt x="284295" y="92051"/>
                  <a:pt x="281129" y="90828"/>
                  <a:pt x="277855" y="90561"/>
                </a:cubicBezTo>
                <a:cubicBezTo>
                  <a:pt x="271916" y="104194"/>
                  <a:pt x="259881" y="112708"/>
                  <a:pt x="248172" y="111695"/>
                </a:cubicBezTo>
                <a:cubicBezTo>
                  <a:pt x="248002" y="114741"/>
                  <a:pt x="246936" y="117719"/>
                  <a:pt x="245089" y="120348"/>
                </a:cubicBezTo>
                <a:cubicBezTo>
                  <a:pt x="241307" y="125729"/>
                  <a:pt x="234825" y="128827"/>
                  <a:pt x="228007" y="128511"/>
                </a:cubicBezTo>
                <a:lnTo>
                  <a:pt x="228158" y="125380"/>
                </a:lnTo>
                <a:cubicBezTo>
                  <a:pt x="233848" y="125642"/>
                  <a:pt x="239262" y="123097"/>
                  <a:pt x="242439" y="118667"/>
                </a:cubicBezTo>
                <a:cubicBezTo>
                  <a:pt x="244071" y="116391"/>
                  <a:pt x="244987" y="113796"/>
                  <a:pt x="245116" y="111152"/>
                </a:cubicBezTo>
                <a:lnTo>
                  <a:pt x="243716" y="110904"/>
                </a:lnTo>
                <a:lnTo>
                  <a:pt x="244539" y="108155"/>
                </a:lnTo>
                <a:cubicBezTo>
                  <a:pt x="244792" y="106166"/>
                  <a:pt x="244131" y="104285"/>
                  <a:pt x="243078" y="102544"/>
                </a:cubicBezTo>
                <a:cubicBezTo>
                  <a:pt x="240257" y="97875"/>
                  <a:pt x="235048" y="94922"/>
                  <a:pt x="229344" y="94755"/>
                </a:cubicBezTo>
                <a:lnTo>
                  <a:pt x="229436" y="91621"/>
                </a:lnTo>
                <a:cubicBezTo>
                  <a:pt x="236268" y="91821"/>
                  <a:pt x="242499" y="95409"/>
                  <a:pt x="245850" y="101072"/>
                </a:cubicBezTo>
                <a:cubicBezTo>
                  <a:pt x="247129" y="103235"/>
                  <a:pt x="247915" y="105575"/>
                  <a:pt x="248037" y="107973"/>
                </a:cubicBezTo>
                <a:cubicBezTo>
                  <a:pt x="258268" y="109553"/>
                  <a:pt x="268981" y="102051"/>
                  <a:pt x="274232" y="89778"/>
                </a:cubicBezTo>
                <a:cubicBezTo>
                  <a:pt x="278708" y="77339"/>
                  <a:pt x="274020" y="63056"/>
                  <a:pt x="262316" y="55834"/>
                </a:cubicBezTo>
                <a:cubicBezTo>
                  <a:pt x="257734" y="53007"/>
                  <a:pt x="252666" y="51626"/>
                  <a:pt x="247691" y="52231"/>
                </a:cubicBezTo>
                <a:cubicBezTo>
                  <a:pt x="248705" y="60913"/>
                  <a:pt x="245967" y="69020"/>
                  <a:pt x="239739" y="74185"/>
                </a:cubicBezTo>
                <a:lnTo>
                  <a:pt x="237649" y="71664"/>
                </a:lnTo>
                <a:cubicBezTo>
                  <a:pt x="244579" y="65918"/>
                  <a:pt x="246481" y="55888"/>
                  <a:pt x="243151" y="45920"/>
                </a:cubicBezTo>
                <a:cubicBezTo>
                  <a:pt x="241194" y="40124"/>
                  <a:pt x="237183" y="35004"/>
                  <a:pt x="231542" y="31523"/>
                </a:cubicBezTo>
                <a:cubicBezTo>
                  <a:pt x="221392" y="25261"/>
                  <a:pt x="208864" y="26095"/>
                  <a:pt x="199763" y="32668"/>
                </a:cubicBezTo>
                <a:lnTo>
                  <a:pt x="194721" y="27952"/>
                </a:lnTo>
                <a:cubicBezTo>
                  <a:pt x="189842" y="24941"/>
                  <a:pt x="184271" y="23995"/>
                  <a:pt x="179076" y="24908"/>
                </a:cubicBezTo>
                <a:close/>
                <a:moveTo>
                  <a:pt x="190632" y="62"/>
                </a:moveTo>
                <a:cubicBezTo>
                  <a:pt x="300121" y="2329"/>
                  <a:pt x="391248" y="125645"/>
                  <a:pt x="309641" y="225160"/>
                </a:cubicBezTo>
                <a:cubicBezTo>
                  <a:pt x="282892" y="251229"/>
                  <a:pt x="279266" y="288859"/>
                  <a:pt x="302841" y="374772"/>
                </a:cubicBezTo>
                <a:lnTo>
                  <a:pt x="121266" y="376812"/>
                </a:lnTo>
                <a:lnTo>
                  <a:pt x="109025" y="322355"/>
                </a:lnTo>
                <a:cubicBezTo>
                  <a:pt x="76580" y="333165"/>
                  <a:pt x="40716" y="329924"/>
                  <a:pt x="28778" y="318327"/>
                </a:cubicBezTo>
                <a:cubicBezTo>
                  <a:pt x="22923" y="311868"/>
                  <a:pt x="25422" y="291738"/>
                  <a:pt x="32859" y="276164"/>
                </a:cubicBezTo>
                <a:cubicBezTo>
                  <a:pt x="35235" y="270344"/>
                  <a:pt x="23179" y="268321"/>
                  <a:pt x="20618" y="259843"/>
                </a:cubicBezTo>
                <a:cubicBezTo>
                  <a:pt x="19440" y="251965"/>
                  <a:pt x="27377" y="251682"/>
                  <a:pt x="30757" y="247602"/>
                </a:cubicBezTo>
                <a:lnTo>
                  <a:pt x="18516" y="238938"/>
                </a:lnTo>
                <a:cubicBezTo>
                  <a:pt x="12669" y="232923"/>
                  <a:pt x="25811" y="221592"/>
                  <a:pt x="29458" y="212919"/>
                </a:cubicBezTo>
                <a:cubicBezTo>
                  <a:pt x="16679" y="208924"/>
                  <a:pt x="7006" y="203466"/>
                  <a:pt x="307" y="196983"/>
                </a:cubicBezTo>
                <a:cubicBezTo>
                  <a:pt x="-2572" y="186228"/>
                  <a:pt x="15339" y="171234"/>
                  <a:pt x="31089" y="151672"/>
                </a:cubicBezTo>
                <a:cubicBezTo>
                  <a:pt x="47602" y="132201"/>
                  <a:pt x="33821" y="117353"/>
                  <a:pt x="46470" y="75544"/>
                </a:cubicBezTo>
                <a:cubicBezTo>
                  <a:pt x="66559" y="23813"/>
                  <a:pt x="114124" y="-1423"/>
                  <a:pt x="190632" y="6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pic>
        <p:nvPicPr>
          <p:cNvPr id="10" name="Gráfico 9" descr="Cabeça com engrenagens com preenchimento sólido">
            <a:extLst>
              <a:ext uri="{FF2B5EF4-FFF2-40B4-BE49-F238E27FC236}">
                <a16:creationId xmlns:a16="http://schemas.microsoft.com/office/drawing/2014/main" id="{A2DD87EA-6BF1-E58A-292F-EF9E895111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248695" y="1322636"/>
            <a:ext cx="646609" cy="618755"/>
          </a:xfrm>
          <a:prstGeom prst="rect">
            <a:avLst/>
          </a:prstGeom>
        </p:spPr>
      </p:pic>
      <p:sp>
        <p:nvSpPr>
          <p:cNvPr id="14" name="Hexágono 13">
            <a:extLst>
              <a:ext uri="{FF2B5EF4-FFF2-40B4-BE49-F238E27FC236}">
                <a16:creationId xmlns:a16="http://schemas.microsoft.com/office/drawing/2014/main" id="{C3DB84F7-EEC5-5EDB-F20C-B9758F0977EC}"/>
              </a:ext>
            </a:extLst>
          </p:cNvPr>
          <p:cNvSpPr/>
          <p:nvPr/>
        </p:nvSpPr>
        <p:spPr>
          <a:xfrm>
            <a:off x="8652544" y="4582953"/>
            <a:ext cx="438977" cy="397564"/>
          </a:xfrm>
          <a:prstGeom prst="hexag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89145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Calibri" panose="020F0502020204030204" pitchFamily="34" charset="0"/>
                <a:cs typeface="Calibri" panose="020F0502020204030204" pitchFamily="34" charset="0"/>
              </a:rPr>
              <a:t>MODELOS DE GERAÇÃO PROFUNDOS</a:t>
            </a:r>
            <a:endParaRPr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7" name="Google Shape;307;p46"/>
          <p:cNvSpPr txBox="1">
            <a:spLocks noGrp="1"/>
          </p:cNvSpPr>
          <p:nvPr>
            <p:ph type="subTitle" idx="1"/>
          </p:nvPr>
        </p:nvSpPr>
        <p:spPr>
          <a:xfrm>
            <a:off x="1617900" y="1324401"/>
            <a:ext cx="2511752" cy="47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Calibri" panose="020F0502020204030204" pitchFamily="34" charset="0"/>
                <a:cs typeface="Calibri" panose="020F0502020204030204" pitchFamily="34" charset="0"/>
              </a:rPr>
              <a:t>Aprendizagem Profunda</a:t>
            </a:r>
            <a:endParaRPr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8" name="Google Shape;308;p46"/>
          <p:cNvSpPr txBox="1">
            <a:spLocks noGrp="1"/>
          </p:cNvSpPr>
          <p:nvPr>
            <p:ph type="subTitle" idx="2"/>
          </p:nvPr>
        </p:nvSpPr>
        <p:spPr>
          <a:xfrm>
            <a:off x="1617900" y="1796597"/>
            <a:ext cx="1910400" cy="9226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>
                <a:latin typeface="Calibri" panose="020F0502020204030204" pitchFamily="34" charset="0"/>
                <a:cs typeface="Calibri" panose="020F0502020204030204" pitchFamily="34" charset="0"/>
              </a:rPr>
              <a:t>Redes neuronais artificiais como base de funcionamento</a:t>
            </a:r>
            <a:endParaRPr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9" name="Google Shape;309;p46"/>
          <p:cNvSpPr txBox="1">
            <a:spLocks noGrp="1"/>
          </p:cNvSpPr>
          <p:nvPr>
            <p:ph type="subTitle" idx="3"/>
          </p:nvPr>
        </p:nvSpPr>
        <p:spPr>
          <a:xfrm>
            <a:off x="2153251" y="3819096"/>
            <a:ext cx="1976401" cy="8222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>
                <a:latin typeface="Calibri" panose="020F0502020204030204" pitchFamily="34" charset="0"/>
                <a:cs typeface="Calibri" panose="020F0502020204030204" pitchFamily="34" charset="0"/>
              </a:rPr>
              <a:t>Capacidade de aprender qualquer tipo de distribuição de dados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0" name="Google Shape;310;p46"/>
          <p:cNvSpPr txBox="1">
            <a:spLocks noGrp="1"/>
          </p:cNvSpPr>
          <p:nvPr>
            <p:ph type="subTitle" idx="4"/>
          </p:nvPr>
        </p:nvSpPr>
        <p:spPr>
          <a:xfrm>
            <a:off x="4795651" y="3114746"/>
            <a:ext cx="1692148" cy="9365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>
                <a:latin typeface="Calibri" panose="020F0502020204030204" pitchFamily="34" charset="0"/>
                <a:cs typeface="Calibri" panose="020F0502020204030204" pitchFamily="34" charset="0"/>
              </a:rPr>
              <a:t>Capacidade de geração de novas amostras com pequenas variações</a:t>
            </a:r>
            <a:endParaRPr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1" name="Google Shape;311;p46"/>
          <p:cNvSpPr txBox="1">
            <a:spLocks noGrp="1"/>
          </p:cNvSpPr>
          <p:nvPr>
            <p:ph type="subTitle" idx="5"/>
          </p:nvPr>
        </p:nvSpPr>
        <p:spPr>
          <a:xfrm>
            <a:off x="2153251" y="3346900"/>
            <a:ext cx="1344900" cy="47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Calibri" panose="020F0502020204030204" pitchFamily="34" charset="0"/>
                <a:cs typeface="Calibri" panose="020F0502020204030204" pitchFamily="34" charset="0"/>
              </a:rPr>
              <a:t>Distribuição</a:t>
            </a:r>
            <a:endParaRPr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2" name="Google Shape;312;p46"/>
          <p:cNvSpPr txBox="1">
            <a:spLocks noGrp="1"/>
          </p:cNvSpPr>
          <p:nvPr>
            <p:ph type="subTitle" idx="6"/>
          </p:nvPr>
        </p:nvSpPr>
        <p:spPr>
          <a:xfrm>
            <a:off x="4838400" y="2719251"/>
            <a:ext cx="1011598" cy="47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Calibri" panose="020F0502020204030204" pitchFamily="34" charset="0"/>
                <a:cs typeface="Calibri" panose="020F0502020204030204" pitchFamily="34" charset="0"/>
              </a:rPr>
              <a:t>Geração</a:t>
            </a:r>
            <a:endParaRPr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3" name="Google Shape;313;p46"/>
          <p:cNvSpPr/>
          <p:nvPr/>
        </p:nvSpPr>
        <p:spPr>
          <a:xfrm>
            <a:off x="431100" y="1324401"/>
            <a:ext cx="1110600" cy="713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381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46"/>
          <p:cNvSpPr/>
          <p:nvPr/>
        </p:nvSpPr>
        <p:spPr>
          <a:xfrm>
            <a:off x="966451" y="3346900"/>
            <a:ext cx="1110600" cy="713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381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46"/>
          <p:cNvSpPr/>
          <p:nvPr/>
        </p:nvSpPr>
        <p:spPr>
          <a:xfrm>
            <a:off x="3650552" y="2594171"/>
            <a:ext cx="1110600" cy="713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381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43" name="Google Shape;343;p46"/>
          <p:cNvCxnSpPr>
            <a:cxnSpLocks/>
            <a:stCxn id="313" idx="2"/>
            <a:endCxn id="314" idx="1"/>
          </p:cNvCxnSpPr>
          <p:nvPr/>
        </p:nvCxnSpPr>
        <p:spPr>
          <a:xfrm rot="5400000">
            <a:off x="143527" y="2860726"/>
            <a:ext cx="1665799" cy="19949"/>
          </a:xfrm>
          <a:prstGeom prst="bentConnector4">
            <a:avLst>
              <a:gd name="adj1" fmla="val 39293"/>
              <a:gd name="adj2" fmla="val 1245922"/>
            </a:avLst>
          </a:prstGeom>
          <a:noFill/>
          <a:ln w="19050" cap="flat" cmpd="sng">
            <a:solidFill>
              <a:schemeClr val="lt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344" name="Google Shape;344;p46"/>
          <p:cNvCxnSpPr>
            <a:cxnSpLocks/>
            <a:stCxn id="314" idx="0"/>
            <a:endCxn id="315" idx="1"/>
          </p:cNvCxnSpPr>
          <p:nvPr/>
        </p:nvCxnSpPr>
        <p:spPr>
          <a:xfrm rot="5400000" flipH="1" flipV="1">
            <a:off x="2388137" y="2084486"/>
            <a:ext cx="396029" cy="2128801"/>
          </a:xfrm>
          <a:prstGeom prst="bentConnector2">
            <a:avLst/>
          </a:prstGeom>
          <a:noFill/>
          <a:ln w="19050" cap="flat" cmpd="sng">
            <a:solidFill>
              <a:schemeClr val="lt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6" name="Google Shape;315;p46">
            <a:extLst>
              <a:ext uri="{FF2B5EF4-FFF2-40B4-BE49-F238E27FC236}">
                <a16:creationId xmlns:a16="http://schemas.microsoft.com/office/drawing/2014/main" id="{3901EE07-C830-EF74-DC0B-440CC2834C4C}"/>
              </a:ext>
            </a:extLst>
          </p:cNvPr>
          <p:cNvSpPr/>
          <p:nvPr/>
        </p:nvSpPr>
        <p:spPr>
          <a:xfrm>
            <a:off x="6148502" y="1858350"/>
            <a:ext cx="1110600" cy="713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38100" algn="bl" rotWithShape="0">
              <a:schemeClr val="l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310;p46">
            <a:extLst>
              <a:ext uri="{FF2B5EF4-FFF2-40B4-BE49-F238E27FC236}">
                <a16:creationId xmlns:a16="http://schemas.microsoft.com/office/drawing/2014/main" id="{7BE1C1C4-554D-E8F0-A104-B42021794C1B}"/>
              </a:ext>
            </a:extLst>
          </p:cNvPr>
          <p:cNvSpPr txBox="1">
            <a:spLocks/>
          </p:cNvSpPr>
          <p:nvPr/>
        </p:nvSpPr>
        <p:spPr>
          <a:xfrm>
            <a:off x="7273801" y="2521796"/>
            <a:ext cx="1834200" cy="11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 Coding"/>
              <a:buNone/>
              <a:defRPr sz="1400" b="0" i="0" u="none" strike="noStrike" cap="non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 Coding"/>
              <a:buNone/>
              <a:defRPr sz="1400" b="0" i="0" u="none" strike="noStrike" cap="non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 Coding"/>
              <a:buNone/>
              <a:defRPr sz="1400" b="0" i="0" u="none" strike="noStrike" cap="non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 Coding"/>
              <a:buNone/>
              <a:defRPr sz="1400" b="0" i="0" u="none" strike="noStrike" cap="non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 Coding"/>
              <a:buNone/>
              <a:defRPr sz="1400" b="0" i="0" u="none" strike="noStrike" cap="non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 Coding"/>
              <a:buNone/>
              <a:defRPr sz="1400" b="0" i="0" u="none" strike="noStrike" cap="non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 Coding"/>
              <a:buNone/>
              <a:defRPr sz="1400" b="0" i="0" u="none" strike="noStrike" cap="non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 Coding"/>
              <a:buNone/>
              <a:defRPr sz="1400" b="0" i="0" u="none" strike="noStrike" cap="non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Gothic Coding"/>
              <a:buNone/>
              <a:defRPr sz="1400" b="0" i="0" u="none" strike="noStrike" cap="none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9pPr>
          </a:lstStyle>
          <a:p>
            <a:pPr marL="0" indent="0"/>
            <a:r>
              <a:rPr lang="pt-PT" b="1" i="0" dirty="0">
                <a:solidFill>
                  <a:schemeClr val="accent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Versatilidade para gerar imagens, texto, áudio e outros tipos de dados.</a:t>
            </a:r>
            <a:endParaRPr lang="pt-PT" b="1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0" name="Google Shape;344;p46">
            <a:extLst>
              <a:ext uri="{FF2B5EF4-FFF2-40B4-BE49-F238E27FC236}">
                <a16:creationId xmlns:a16="http://schemas.microsoft.com/office/drawing/2014/main" id="{C79F8DE7-777E-0976-8C3F-9F505965E2D9}"/>
              </a:ext>
            </a:extLst>
          </p:cNvPr>
          <p:cNvCxnSpPr>
            <a:cxnSpLocks/>
            <a:stCxn id="315" idx="2"/>
          </p:cNvCxnSpPr>
          <p:nvPr/>
        </p:nvCxnSpPr>
        <p:spPr>
          <a:xfrm rot="5400000" flipH="1" flipV="1">
            <a:off x="5168641" y="1620010"/>
            <a:ext cx="724771" cy="2650351"/>
          </a:xfrm>
          <a:prstGeom prst="bentConnector3">
            <a:avLst>
              <a:gd name="adj1" fmla="val -174593"/>
            </a:avLst>
          </a:prstGeom>
          <a:noFill/>
          <a:ln w="19050" cap="flat" cmpd="sng">
            <a:solidFill>
              <a:schemeClr val="lt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" name="Freeform 108">
            <a:extLst>
              <a:ext uri="{FF2B5EF4-FFF2-40B4-BE49-F238E27FC236}">
                <a16:creationId xmlns:a16="http://schemas.microsoft.com/office/drawing/2014/main" id="{7DB85874-37F3-7F36-B2E8-8E3D3600C207}"/>
              </a:ext>
            </a:extLst>
          </p:cNvPr>
          <p:cNvSpPr/>
          <p:nvPr/>
        </p:nvSpPr>
        <p:spPr>
          <a:xfrm>
            <a:off x="735471" y="1394997"/>
            <a:ext cx="501857" cy="554554"/>
          </a:xfrm>
          <a:custGeom>
            <a:avLst/>
            <a:gdLst/>
            <a:ahLst/>
            <a:cxnLst/>
            <a:rect l="l" t="t" r="r" b="b"/>
            <a:pathLst>
              <a:path w="341005" h="376812">
                <a:moveTo>
                  <a:pt x="179590" y="105941"/>
                </a:moveTo>
                <a:cubicBezTo>
                  <a:pt x="189466" y="103284"/>
                  <a:pt x="200229" y="106383"/>
                  <a:pt x="207502" y="113978"/>
                </a:cubicBezTo>
                <a:lnTo>
                  <a:pt x="205155" y="116193"/>
                </a:lnTo>
                <a:cubicBezTo>
                  <a:pt x="198727" y="109493"/>
                  <a:pt x="189244" y="106732"/>
                  <a:pt x="180543" y="109027"/>
                </a:cubicBezTo>
                <a:cubicBezTo>
                  <a:pt x="171284" y="111470"/>
                  <a:pt x="164597" y="119184"/>
                  <a:pt x="163491" y="128699"/>
                </a:cubicBezTo>
                <a:lnTo>
                  <a:pt x="160301" y="128192"/>
                </a:lnTo>
                <a:cubicBezTo>
                  <a:pt x="160626" y="125509"/>
                  <a:pt x="161343" y="122953"/>
                  <a:pt x="162397" y="120583"/>
                </a:cubicBezTo>
                <a:cubicBezTo>
                  <a:pt x="163188" y="118806"/>
                  <a:pt x="164168" y="117134"/>
                  <a:pt x="165317" y="115593"/>
                </a:cubicBezTo>
                <a:close/>
                <a:moveTo>
                  <a:pt x="184774" y="76800"/>
                </a:moveTo>
                <a:cubicBezTo>
                  <a:pt x="189722" y="75892"/>
                  <a:pt x="194950" y="76276"/>
                  <a:pt x="199898" y="78055"/>
                </a:cubicBezTo>
                <a:lnTo>
                  <a:pt x="198784" y="81085"/>
                </a:lnTo>
                <a:cubicBezTo>
                  <a:pt x="190044" y="77951"/>
                  <a:pt x="180324" y="79705"/>
                  <a:pt x="173557" y="85636"/>
                </a:cubicBezTo>
                <a:cubicBezTo>
                  <a:pt x="166357" y="91948"/>
                  <a:pt x="163808" y="101834"/>
                  <a:pt x="167057" y="110845"/>
                </a:cubicBezTo>
                <a:lnTo>
                  <a:pt x="163976" y="111813"/>
                </a:lnTo>
                <a:cubicBezTo>
                  <a:pt x="161264" y="104174"/>
                  <a:pt x="162206" y="95982"/>
                  <a:pt x="166259" y="89343"/>
                </a:cubicBezTo>
                <a:lnTo>
                  <a:pt x="171329" y="83298"/>
                </a:lnTo>
                <a:cubicBezTo>
                  <a:pt x="175158" y="79908"/>
                  <a:pt x="179826" y="77708"/>
                  <a:pt x="184774" y="76800"/>
                </a:cubicBezTo>
                <a:close/>
                <a:moveTo>
                  <a:pt x="179076" y="24908"/>
                </a:moveTo>
                <a:cubicBezTo>
                  <a:pt x="173882" y="25821"/>
                  <a:pt x="169065" y="28595"/>
                  <a:pt x="165693" y="33023"/>
                </a:cubicBezTo>
                <a:lnTo>
                  <a:pt x="165081" y="32645"/>
                </a:lnTo>
                <a:lnTo>
                  <a:pt x="164343" y="33841"/>
                </a:lnTo>
                <a:lnTo>
                  <a:pt x="159156" y="28989"/>
                </a:lnTo>
                <a:cubicBezTo>
                  <a:pt x="147650" y="21890"/>
                  <a:pt x="132568" y="25462"/>
                  <a:pt x="125468" y="36968"/>
                </a:cubicBezTo>
                <a:cubicBezTo>
                  <a:pt x="125028" y="37682"/>
                  <a:pt x="124628" y="38410"/>
                  <a:pt x="124607" y="39302"/>
                </a:cubicBezTo>
                <a:cubicBezTo>
                  <a:pt x="121192" y="53871"/>
                  <a:pt x="126621" y="67918"/>
                  <a:pt x="137512" y="72288"/>
                </a:cubicBezTo>
                <a:lnTo>
                  <a:pt x="136408" y="75373"/>
                </a:lnTo>
                <a:cubicBezTo>
                  <a:pt x="125065" y="70889"/>
                  <a:pt x="118824" y="57470"/>
                  <a:pt x="120792" y="42874"/>
                </a:cubicBezTo>
                <a:cubicBezTo>
                  <a:pt x="110219" y="38045"/>
                  <a:pt x="97555" y="41998"/>
                  <a:pt x="91229" y="52250"/>
                </a:cubicBezTo>
                <a:cubicBezTo>
                  <a:pt x="86215" y="60377"/>
                  <a:pt x="87164" y="68019"/>
                  <a:pt x="90995" y="75559"/>
                </a:cubicBezTo>
                <a:cubicBezTo>
                  <a:pt x="88405" y="77546"/>
                  <a:pt x="86197" y="80074"/>
                  <a:pt x="84391" y="83001"/>
                </a:cubicBezTo>
                <a:cubicBezTo>
                  <a:pt x="75261" y="97799"/>
                  <a:pt x="79855" y="117197"/>
                  <a:pt x="94653" y="126328"/>
                </a:cubicBezTo>
                <a:cubicBezTo>
                  <a:pt x="99603" y="129383"/>
                  <a:pt x="105068" y="130901"/>
                  <a:pt x="110449" y="130283"/>
                </a:cubicBezTo>
                <a:cubicBezTo>
                  <a:pt x="111461" y="121556"/>
                  <a:pt x="114239" y="112980"/>
                  <a:pt x="118788" y="105103"/>
                </a:cubicBezTo>
                <a:lnTo>
                  <a:pt x="122060" y="106993"/>
                </a:lnTo>
                <a:cubicBezTo>
                  <a:pt x="117549" y="114804"/>
                  <a:pt x="114885" y="123345"/>
                  <a:pt x="114602" y="132066"/>
                </a:cubicBezTo>
                <a:cubicBezTo>
                  <a:pt x="118189" y="142541"/>
                  <a:pt x="127538" y="149533"/>
                  <a:pt x="138054" y="150704"/>
                </a:cubicBezTo>
                <a:lnTo>
                  <a:pt x="138622" y="157584"/>
                </a:lnTo>
                <a:cubicBezTo>
                  <a:pt x="141809" y="168599"/>
                  <a:pt x="152592" y="175355"/>
                  <a:pt x="163536" y="173320"/>
                </a:cubicBezTo>
                <a:lnTo>
                  <a:pt x="163736" y="174011"/>
                </a:lnTo>
                <a:lnTo>
                  <a:pt x="165086" y="173621"/>
                </a:lnTo>
                <a:lnTo>
                  <a:pt x="165671" y="180699"/>
                </a:lnTo>
                <a:cubicBezTo>
                  <a:pt x="169429" y="193686"/>
                  <a:pt x="183003" y="201168"/>
                  <a:pt x="195990" y="197411"/>
                </a:cubicBezTo>
                <a:cubicBezTo>
                  <a:pt x="196796" y="197178"/>
                  <a:pt x="197581" y="196907"/>
                  <a:pt x="198196" y="196260"/>
                </a:cubicBezTo>
                <a:cubicBezTo>
                  <a:pt x="209934" y="188156"/>
                  <a:pt x="215400" y="175007"/>
                  <a:pt x="211155" y="164763"/>
                </a:cubicBezTo>
                <a:cubicBezTo>
                  <a:pt x="205121" y="170199"/>
                  <a:pt x="196738" y="172687"/>
                  <a:pt x="188343" y="171472"/>
                </a:cubicBezTo>
                <a:lnTo>
                  <a:pt x="188829" y="168281"/>
                </a:lnTo>
                <a:cubicBezTo>
                  <a:pt x="198020" y="169602"/>
                  <a:pt x="207192" y="165939"/>
                  <a:pt x="212635" y="158774"/>
                </a:cubicBezTo>
                <a:cubicBezTo>
                  <a:pt x="218427" y="151149"/>
                  <a:pt x="218946" y="140953"/>
                  <a:pt x="213960" y="132774"/>
                </a:cubicBezTo>
                <a:lnTo>
                  <a:pt x="216785" y="131210"/>
                </a:lnTo>
                <a:cubicBezTo>
                  <a:pt x="222366" y="140465"/>
                  <a:pt x="221779" y="151983"/>
                  <a:pt x="215286" y="160619"/>
                </a:cubicBezTo>
                <a:lnTo>
                  <a:pt x="213805" y="162105"/>
                </a:lnTo>
                <a:cubicBezTo>
                  <a:pt x="218946" y="172938"/>
                  <a:pt x="214526" y="186813"/>
                  <a:pt x="203421" y="196175"/>
                </a:cubicBezTo>
                <a:cubicBezTo>
                  <a:pt x="208012" y="206854"/>
                  <a:pt x="220050" y="212429"/>
                  <a:pt x="231622" y="209082"/>
                </a:cubicBezTo>
                <a:cubicBezTo>
                  <a:pt x="239377" y="206838"/>
                  <a:pt x="243741" y="201989"/>
                  <a:pt x="246092" y="195539"/>
                </a:cubicBezTo>
                <a:cubicBezTo>
                  <a:pt x="255042" y="199507"/>
                  <a:pt x="265290" y="198199"/>
                  <a:pt x="272958" y="192601"/>
                </a:cubicBezTo>
                <a:lnTo>
                  <a:pt x="276795" y="193971"/>
                </a:lnTo>
                <a:cubicBezTo>
                  <a:pt x="289009" y="194016"/>
                  <a:pt x="298363" y="193248"/>
                  <a:pt x="304258" y="183694"/>
                </a:cubicBezTo>
                <a:cubicBezTo>
                  <a:pt x="309343" y="175453"/>
                  <a:pt x="308953" y="165378"/>
                  <a:pt x="303795" y="157923"/>
                </a:cubicBezTo>
                <a:cubicBezTo>
                  <a:pt x="298315" y="164420"/>
                  <a:pt x="291041" y="168177"/>
                  <a:pt x="283702" y="168174"/>
                </a:cubicBezTo>
                <a:lnTo>
                  <a:pt x="283555" y="164527"/>
                </a:lnTo>
                <a:cubicBezTo>
                  <a:pt x="293404" y="164978"/>
                  <a:pt x="303289" y="157339"/>
                  <a:pt x="308110" y="145450"/>
                </a:cubicBezTo>
                <a:cubicBezTo>
                  <a:pt x="311022" y="136198"/>
                  <a:pt x="308752" y="126109"/>
                  <a:pt x="302169" y="119023"/>
                </a:cubicBezTo>
                <a:cubicBezTo>
                  <a:pt x="296249" y="127191"/>
                  <a:pt x="286098" y="131525"/>
                  <a:pt x="275782" y="130309"/>
                </a:cubicBezTo>
                <a:lnTo>
                  <a:pt x="276183" y="127106"/>
                </a:lnTo>
                <a:cubicBezTo>
                  <a:pt x="285405" y="128184"/>
                  <a:pt x="294478" y="124281"/>
                  <a:pt x="299730" y="116974"/>
                </a:cubicBezTo>
                <a:lnTo>
                  <a:pt x="300207" y="116045"/>
                </a:lnTo>
                <a:cubicBezTo>
                  <a:pt x="300079" y="107222"/>
                  <a:pt x="295342" y="98867"/>
                  <a:pt x="287259" y="93880"/>
                </a:cubicBezTo>
                <a:cubicBezTo>
                  <a:pt x="284295" y="92051"/>
                  <a:pt x="281129" y="90828"/>
                  <a:pt x="277855" y="90561"/>
                </a:cubicBezTo>
                <a:cubicBezTo>
                  <a:pt x="271916" y="104194"/>
                  <a:pt x="259881" y="112708"/>
                  <a:pt x="248172" y="111695"/>
                </a:cubicBezTo>
                <a:cubicBezTo>
                  <a:pt x="248002" y="114741"/>
                  <a:pt x="246936" y="117719"/>
                  <a:pt x="245089" y="120348"/>
                </a:cubicBezTo>
                <a:cubicBezTo>
                  <a:pt x="241307" y="125729"/>
                  <a:pt x="234825" y="128827"/>
                  <a:pt x="228007" y="128511"/>
                </a:cubicBezTo>
                <a:lnTo>
                  <a:pt x="228158" y="125380"/>
                </a:lnTo>
                <a:cubicBezTo>
                  <a:pt x="233848" y="125642"/>
                  <a:pt x="239262" y="123097"/>
                  <a:pt x="242439" y="118667"/>
                </a:cubicBezTo>
                <a:cubicBezTo>
                  <a:pt x="244071" y="116391"/>
                  <a:pt x="244987" y="113796"/>
                  <a:pt x="245116" y="111152"/>
                </a:cubicBezTo>
                <a:lnTo>
                  <a:pt x="243716" y="110904"/>
                </a:lnTo>
                <a:lnTo>
                  <a:pt x="244539" y="108155"/>
                </a:lnTo>
                <a:cubicBezTo>
                  <a:pt x="244792" y="106166"/>
                  <a:pt x="244131" y="104285"/>
                  <a:pt x="243078" y="102544"/>
                </a:cubicBezTo>
                <a:cubicBezTo>
                  <a:pt x="240257" y="97875"/>
                  <a:pt x="235048" y="94922"/>
                  <a:pt x="229344" y="94755"/>
                </a:cubicBezTo>
                <a:lnTo>
                  <a:pt x="229436" y="91621"/>
                </a:lnTo>
                <a:cubicBezTo>
                  <a:pt x="236268" y="91821"/>
                  <a:pt x="242499" y="95409"/>
                  <a:pt x="245850" y="101072"/>
                </a:cubicBezTo>
                <a:cubicBezTo>
                  <a:pt x="247129" y="103235"/>
                  <a:pt x="247915" y="105575"/>
                  <a:pt x="248037" y="107973"/>
                </a:cubicBezTo>
                <a:cubicBezTo>
                  <a:pt x="258268" y="109553"/>
                  <a:pt x="268981" y="102051"/>
                  <a:pt x="274232" y="89778"/>
                </a:cubicBezTo>
                <a:cubicBezTo>
                  <a:pt x="278708" y="77339"/>
                  <a:pt x="274020" y="63056"/>
                  <a:pt x="262316" y="55834"/>
                </a:cubicBezTo>
                <a:cubicBezTo>
                  <a:pt x="257734" y="53007"/>
                  <a:pt x="252666" y="51626"/>
                  <a:pt x="247691" y="52231"/>
                </a:cubicBezTo>
                <a:cubicBezTo>
                  <a:pt x="248705" y="60913"/>
                  <a:pt x="245967" y="69020"/>
                  <a:pt x="239739" y="74185"/>
                </a:cubicBezTo>
                <a:lnTo>
                  <a:pt x="237649" y="71664"/>
                </a:lnTo>
                <a:cubicBezTo>
                  <a:pt x="244579" y="65918"/>
                  <a:pt x="246481" y="55888"/>
                  <a:pt x="243151" y="45920"/>
                </a:cubicBezTo>
                <a:cubicBezTo>
                  <a:pt x="241194" y="40124"/>
                  <a:pt x="237183" y="35004"/>
                  <a:pt x="231542" y="31523"/>
                </a:cubicBezTo>
                <a:cubicBezTo>
                  <a:pt x="221392" y="25261"/>
                  <a:pt x="208864" y="26095"/>
                  <a:pt x="199763" y="32668"/>
                </a:cubicBezTo>
                <a:lnTo>
                  <a:pt x="194721" y="27952"/>
                </a:lnTo>
                <a:cubicBezTo>
                  <a:pt x="189842" y="24941"/>
                  <a:pt x="184271" y="23995"/>
                  <a:pt x="179076" y="24908"/>
                </a:cubicBezTo>
                <a:close/>
                <a:moveTo>
                  <a:pt x="190632" y="62"/>
                </a:moveTo>
                <a:cubicBezTo>
                  <a:pt x="300121" y="2329"/>
                  <a:pt x="391248" y="125645"/>
                  <a:pt x="309641" y="225160"/>
                </a:cubicBezTo>
                <a:cubicBezTo>
                  <a:pt x="282892" y="251229"/>
                  <a:pt x="279266" y="288859"/>
                  <a:pt x="302841" y="374772"/>
                </a:cubicBezTo>
                <a:lnTo>
                  <a:pt x="121266" y="376812"/>
                </a:lnTo>
                <a:lnTo>
                  <a:pt x="109025" y="322355"/>
                </a:lnTo>
                <a:cubicBezTo>
                  <a:pt x="76580" y="333165"/>
                  <a:pt x="40716" y="329924"/>
                  <a:pt x="28778" y="318327"/>
                </a:cubicBezTo>
                <a:cubicBezTo>
                  <a:pt x="22923" y="311868"/>
                  <a:pt x="25422" y="291738"/>
                  <a:pt x="32859" y="276164"/>
                </a:cubicBezTo>
                <a:cubicBezTo>
                  <a:pt x="35235" y="270344"/>
                  <a:pt x="23179" y="268321"/>
                  <a:pt x="20618" y="259843"/>
                </a:cubicBezTo>
                <a:cubicBezTo>
                  <a:pt x="19440" y="251965"/>
                  <a:pt x="27377" y="251682"/>
                  <a:pt x="30757" y="247602"/>
                </a:cubicBezTo>
                <a:lnTo>
                  <a:pt x="18516" y="238938"/>
                </a:lnTo>
                <a:cubicBezTo>
                  <a:pt x="12669" y="232923"/>
                  <a:pt x="25811" y="221592"/>
                  <a:pt x="29458" y="212919"/>
                </a:cubicBezTo>
                <a:cubicBezTo>
                  <a:pt x="16679" y="208924"/>
                  <a:pt x="7006" y="203466"/>
                  <a:pt x="307" y="196983"/>
                </a:cubicBezTo>
                <a:cubicBezTo>
                  <a:pt x="-2572" y="186228"/>
                  <a:pt x="15339" y="171234"/>
                  <a:pt x="31089" y="151672"/>
                </a:cubicBezTo>
                <a:cubicBezTo>
                  <a:pt x="47602" y="132201"/>
                  <a:pt x="33821" y="117353"/>
                  <a:pt x="46470" y="75544"/>
                </a:cubicBezTo>
                <a:cubicBezTo>
                  <a:pt x="66559" y="23813"/>
                  <a:pt x="114124" y="-1423"/>
                  <a:pt x="190632" y="6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" name="Google Shape;312;p46">
            <a:extLst>
              <a:ext uri="{FF2B5EF4-FFF2-40B4-BE49-F238E27FC236}">
                <a16:creationId xmlns:a16="http://schemas.microsoft.com/office/drawing/2014/main" id="{8CC434E7-BDEF-7625-E9B3-C1CF785A4ED0}"/>
              </a:ext>
            </a:extLst>
          </p:cNvPr>
          <p:cNvSpPr txBox="1">
            <a:spLocks/>
          </p:cNvSpPr>
          <p:nvPr/>
        </p:nvSpPr>
        <p:spPr>
          <a:xfrm>
            <a:off x="7429499" y="1922513"/>
            <a:ext cx="1011598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 b="0" i="0" u="none" strike="noStrike" cap="none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 b="0" i="0" u="none" strike="noStrike" cap="none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 b="0" i="0" u="none" strike="noStrike" cap="none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 b="0" i="0" u="none" strike="noStrike" cap="none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 b="0" i="0" u="none" strike="noStrike" cap="none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 b="0" i="0" u="none" strike="noStrike" cap="none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 b="0" i="0" u="none" strike="noStrike" cap="none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 b="0" i="0" u="none" strike="noStrike" cap="none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eko Medium"/>
              <a:buNone/>
              <a:defRPr sz="2400" b="0" i="0" u="none" strike="noStrike" cap="none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pPr marL="0" indent="0"/>
            <a:r>
              <a:rPr lang="pt-PT" sz="1800" b="1" dirty="0">
                <a:latin typeface="Calibri" panose="020F0502020204030204" pitchFamily="34" charset="0"/>
                <a:cs typeface="Calibri" panose="020F0502020204030204" pitchFamily="34" charset="0"/>
              </a:rPr>
              <a:t>Dados</a:t>
            </a:r>
            <a:endParaRPr lang="pt-PT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ight Triangle 17">
            <a:extLst>
              <a:ext uri="{FF2B5EF4-FFF2-40B4-BE49-F238E27FC236}">
                <a16:creationId xmlns:a16="http://schemas.microsoft.com/office/drawing/2014/main" id="{1B1863EA-FAA6-C479-E777-5C2AAC90CC19}"/>
              </a:ext>
            </a:extLst>
          </p:cNvPr>
          <p:cNvSpPr>
            <a:spLocks noChangeAspect="1"/>
          </p:cNvSpPr>
          <p:nvPr/>
        </p:nvSpPr>
        <p:spPr>
          <a:xfrm>
            <a:off x="4006197" y="2670689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79233" y="2431577"/>
                </a:moveTo>
                <a:lnTo>
                  <a:pt x="2179233" y="2611489"/>
                </a:lnTo>
                <a:lnTo>
                  <a:pt x="1999321" y="2611489"/>
                </a:lnTo>
                <a:lnTo>
                  <a:pt x="1999321" y="2780851"/>
                </a:lnTo>
                <a:lnTo>
                  <a:pt x="2179233" y="2780851"/>
                </a:lnTo>
                <a:lnTo>
                  <a:pt x="2179233" y="2960763"/>
                </a:lnTo>
                <a:lnTo>
                  <a:pt x="2348595" y="2960763"/>
                </a:lnTo>
                <a:lnTo>
                  <a:pt x="2348595" y="2780851"/>
                </a:lnTo>
                <a:lnTo>
                  <a:pt x="2528507" y="2780851"/>
                </a:lnTo>
                <a:lnTo>
                  <a:pt x="2528507" y="2611489"/>
                </a:lnTo>
                <a:lnTo>
                  <a:pt x="2348595" y="2611489"/>
                </a:lnTo>
                <a:lnTo>
                  <a:pt x="2348595" y="24315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pic>
        <p:nvPicPr>
          <p:cNvPr id="10" name="Gráfico 9" descr="Base de Dados com preenchimento sólido">
            <a:extLst>
              <a:ext uri="{FF2B5EF4-FFF2-40B4-BE49-F238E27FC236}">
                <a16:creationId xmlns:a16="http://schemas.microsoft.com/office/drawing/2014/main" id="{02EB46FF-4D4B-07D4-5FCC-A976640AD3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8158" y="1847300"/>
            <a:ext cx="711287" cy="711287"/>
          </a:xfrm>
          <a:prstGeom prst="rect">
            <a:avLst/>
          </a:prstGeom>
        </p:spPr>
      </p:pic>
      <p:pic>
        <p:nvPicPr>
          <p:cNvPr id="12" name="Gráfico 11" descr="Gráfico de dispersão com preenchimento sólido">
            <a:extLst>
              <a:ext uri="{FF2B5EF4-FFF2-40B4-BE49-F238E27FC236}">
                <a16:creationId xmlns:a16="http://schemas.microsoft.com/office/drawing/2014/main" id="{D1EE7D1D-99E6-C848-B641-4DA911213B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1237328" y="3358881"/>
            <a:ext cx="672359" cy="669469"/>
          </a:xfrm>
          <a:prstGeom prst="rect">
            <a:avLst/>
          </a:prstGeom>
        </p:spPr>
      </p:pic>
      <p:sp>
        <p:nvSpPr>
          <p:cNvPr id="13" name="Hexágono 12">
            <a:extLst>
              <a:ext uri="{FF2B5EF4-FFF2-40B4-BE49-F238E27FC236}">
                <a16:creationId xmlns:a16="http://schemas.microsoft.com/office/drawing/2014/main" id="{E8C2C164-6222-85ED-A89A-480B5C45CDCB}"/>
              </a:ext>
            </a:extLst>
          </p:cNvPr>
          <p:cNvSpPr/>
          <p:nvPr/>
        </p:nvSpPr>
        <p:spPr>
          <a:xfrm>
            <a:off x="8652544" y="4582953"/>
            <a:ext cx="438977" cy="397564"/>
          </a:xfrm>
          <a:prstGeom prst="hexag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79999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F23F7A-61DC-9308-146C-73B775C58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2800" b="1" dirty="0">
                <a:latin typeface="Calibri" panose="020F0502020204030204" pitchFamily="34" charset="0"/>
                <a:cs typeface="Calibri" panose="020F0502020204030204" pitchFamily="34" charset="0"/>
              </a:rPr>
              <a:t>MODELOS DE DIFUSÃO</a:t>
            </a:r>
          </a:p>
        </p:txBody>
      </p:sp>
      <p:sp>
        <p:nvSpPr>
          <p:cNvPr id="10" name="Block Arc 4">
            <a:extLst>
              <a:ext uri="{FF2B5EF4-FFF2-40B4-BE49-F238E27FC236}">
                <a16:creationId xmlns:a16="http://schemas.microsoft.com/office/drawing/2014/main" id="{C6ED22CE-3337-4382-4C91-256808CAE686}"/>
              </a:ext>
            </a:extLst>
          </p:cNvPr>
          <p:cNvSpPr/>
          <p:nvPr/>
        </p:nvSpPr>
        <p:spPr>
          <a:xfrm>
            <a:off x="3697304" y="1403098"/>
            <a:ext cx="1224136" cy="1224136"/>
          </a:xfrm>
          <a:prstGeom prst="blockArc">
            <a:avLst>
              <a:gd name="adj1" fmla="val 10800000"/>
              <a:gd name="adj2" fmla="val 5426329"/>
              <a:gd name="adj3" fmla="val 6461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Block Arc 5">
            <a:extLst>
              <a:ext uri="{FF2B5EF4-FFF2-40B4-BE49-F238E27FC236}">
                <a16:creationId xmlns:a16="http://schemas.microsoft.com/office/drawing/2014/main" id="{AE42C304-6253-74AC-3B6C-437287A63E57}"/>
              </a:ext>
            </a:extLst>
          </p:cNvPr>
          <p:cNvSpPr/>
          <p:nvPr/>
        </p:nvSpPr>
        <p:spPr>
          <a:xfrm rot="11700000">
            <a:off x="3424081" y="2527502"/>
            <a:ext cx="1224136" cy="1224136"/>
          </a:xfrm>
          <a:prstGeom prst="blockArc">
            <a:avLst>
              <a:gd name="adj1" fmla="val 10800000"/>
              <a:gd name="adj2" fmla="val 5426329"/>
              <a:gd name="adj3" fmla="val 6461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Block Arc 6">
            <a:extLst>
              <a:ext uri="{FF2B5EF4-FFF2-40B4-BE49-F238E27FC236}">
                <a16:creationId xmlns:a16="http://schemas.microsoft.com/office/drawing/2014/main" id="{7769C2AB-ACA5-B9FB-7988-475CC65159BB}"/>
              </a:ext>
            </a:extLst>
          </p:cNvPr>
          <p:cNvSpPr/>
          <p:nvPr/>
        </p:nvSpPr>
        <p:spPr>
          <a:xfrm>
            <a:off x="4561400" y="2593731"/>
            <a:ext cx="1224136" cy="1224136"/>
          </a:xfrm>
          <a:prstGeom prst="blockArc">
            <a:avLst>
              <a:gd name="adj1" fmla="val 10800000"/>
              <a:gd name="adj2" fmla="val 5426329"/>
              <a:gd name="adj3" fmla="val 6461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Block Arc 7">
            <a:extLst>
              <a:ext uri="{FF2B5EF4-FFF2-40B4-BE49-F238E27FC236}">
                <a16:creationId xmlns:a16="http://schemas.microsoft.com/office/drawing/2014/main" id="{C56C217B-C8FD-A197-C703-88748D17D64D}"/>
              </a:ext>
            </a:extLst>
          </p:cNvPr>
          <p:cNvSpPr/>
          <p:nvPr/>
        </p:nvSpPr>
        <p:spPr>
          <a:xfrm rot="11700000">
            <a:off x="4266841" y="3744305"/>
            <a:ext cx="1224136" cy="1224136"/>
          </a:xfrm>
          <a:prstGeom prst="blockArc">
            <a:avLst>
              <a:gd name="adj1" fmla="val 10800000"/>
              <a:gd name="adj2" fmla="val 5426329"/>
              <a:gd name="adj3" fmla="val 6461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74120F-E285-C28D-3383-B363006829FF}"/>
              </a:ext>
            </a:extLst>
          </p:cNvPr>
          <p:cNvSpPr txBox="1"/>
          <p:nvPr/>
        </p:nvSpPr>
        <p:spPr>
          <a:xfrm>
            <a:off x="440204" y="2713259"/>
            <a:ext cx="293752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rgbClr val="DBDEE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pt-PT" b="1" i="0" dirty="0">
                <a:solidFill>
                  <a:srgbClr val="DBDEE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rocesso de difusão que é usado para melhorar o sinal, reduzindo o ruído presente neste e tornando-o mais nítido.</a:t>
            </a:r>
            <a:endParaRPr lang="pt-PT" altLang="ko-KR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endParaRPr lang="ko-KR" altLang="en-US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13251329-9A06-C327-E0E0-A5163C96871D}"/>
              </a:ext>
            </a:extLst>
          </p:cNvPr>
          <p:cNvSpPr txBox="1"/>
          <p:nvPr/>
        </p:nvSpPr>
        <p:spPr>
          <a:xfrm>
            <a:off x="1442023" y="4053843"/>
            <a:ext cx="2539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Sinais</a:t>
            </a:r>
            <a:r>
              <a:rPr lang="en-US" altLang="ko-K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altLang="ko-KR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aúdio</a:t>
            </a:r>
            <a:r>
              <a:rPr lang="en-US" altLang="ko-K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imagens </a:t>
            </a:r>
            <a:r>
              <a:rPr lang="en-US" altLang="ko-KR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</a:t>
            </a:r>
            <a:r>
              <a:rPr lang="en-US" altLang="ko-K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grafos</a:t>
            </a:r>
            <a:r>
              <a:rPr lang="en-US" altLang="ko-K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moleculares</a:t>
            </a:r>
            <a:endParaRPr lang="ko-KR" altLang="en-US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22">
            <a:extLst>
              <a:ext uri="{FF2B5EF4-FFF2-40B4-BE49-F238E27FC236}">
                <a16:creationId xmlns:a16="http://schemas.microsoft.com/office/drawing/2014/main" id="{AAE1D736-EE97-35DC-8773-4B0C49624567}"/>
              </a:ext>
            </a:extLst>
          </p:cNvPr>
          <p:cNvSpPr txBox="1"/>
          <p:nvPr/>
        </p:nvSpPr>
        <p:spPr>
          <a:xfrm>
            <a:off x="5785536" y="2657973"/>
            <a:ext cx="26384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PT" b="1" dirty="0">
                <a:solidFill>
                  <a:srgbClr val="DBDEE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pt-PT" b="1" i="0" dirty="0">
                <a:solidFill>
                  <a:srgbClr val="DBDEE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rocesso de difusão pode ser utilizado para produzir um sinal novo a partir de ruído</a:t>
            </a:r>
            <a:endParaRPr lang="ko-KR" altLang="en-US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22">
            <a:extLst>
              <a:ext uri="{FF2B5EF4-FFF2-40B4-BE49-F238E27FC236}">
                <a16:creationId xmlns:a16="http://schemas.microsoft.com/office/drawing/2014/main" id="{7B67D91F-F32C-D2BA-D1B2-39E136F121A5}"/>
              </a:ext>
            </a:extLst>
          </p:cNvPr>
          <p:cNvSpPr txBox="1"/>
          <p:nvPr/>
        </p:nvSpPr>
        <p:spPr>
          <a:xfrm>
            <a:off x="1519200" y="1603882"/>
            <a:ext cx="1721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Modelos</a:t>
            </a:r>
            <a:r>
              <a:rPr lang="en-US" altLang="ko-K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altLang="ko-KR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geração</a:t>
            </a:r>
            <a:r>
              <a:rPr lang="en-US" altLang="ko-K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profunda</a:t>
            </a:r>
            <a:endParaRPr lang="ko-KR" altLang="en-US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1FB9FE8A-0D1E-C755-0EF1-A17783570842}"/>
              </a:ext>
            </a:extLst>
          </p:cNvPr>
          <p:cNvSpPr txBox="1"/>
          <p:nvPr/>
        </p:nvSpPr>
        <p:spPr>
          <a:xfrm>
            <a:off x="5628536" y="4021656"/>
            <a:ext cx="25394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PT" b="1" dirty="0">
                <a:solidFill>
                  <a:srgbClr val="DBDEE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Avanços significativos em áreas como </a:t>
            </a:r>
            <a:r>
              <a:rPr lang="pt-PT" b="1" i="0" dirty="0">
                <a:solidFill>
                  <a:srgbClr val="DBDEE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medicina, biologia, entretenimento e design</a:t>
            </a:r>
            <a:endParaRPr lang="pt-PT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22">
            <a:extLst>
              <a:ext uri="{FF2B5EF4-FFF2-40B4-BE49-F238E27FC236}">
                <a16:creationId xmlns:a16="http://schemas.microsoft.com/office/drawing/2014/main" id="{2808CEBE-C36C-C535-EDC3-1A2CBBC2D537}"/>
              </a:ext>
            </a:extLst>
          </p:cNvPr>
          <p:cNvSpPr txBox="1"/>
          <p:nvPr/>
        </p:nvSpPr>
        <p:spPr>
          <a:xfrm>
            <a:off x="5013355" y="1691731"/>
            <a:ext cx="2539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Geração</a:t>
            </a:r>
            <a:r>
              <a:rPr lang="en-US" altLang="ko-K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altLang="ko-KR" b="1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denoising</a:t>
            </a:r>
            <a:r>
              <a:rPr lang="en-US" altLang="ko-KR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altLang="ko-KR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sinais</a:t>
            </a:r>
            <a:endParaRPr lang="ko-KR" altLang="en-US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Gráfico 3" descr="Ideia brilhante com preenchimento sólido">
            <a:extLst>
              <a:ext uri="{FF2B5EF4-FFF2-40B4-BE49-F238E27FC236}">
                <a16:creationId xmlns:a16="http://schemas.microsoft.com/office/drawing/2014/main" id="{5F7E032E-A3EA-ABBA-7678-9029F335D7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6058" y="1603314"/>
            <a:ext cx="786628" cy="786628"/>
          </a:xfrm>
          <a:prstGeom prst="rect">
            <a:avLst/>
          </a:prstGeom>
        </p:spPr>
      </p:pic>
      <p:pic>
        <p:nvPicPr>
          <p:cNvPr id="6" name="Gráfico 5" descr="Sinal com preenchimento sólido">
            <a:extLst>
              <a:ext uri="{FF2B5EF4-FFF2-40B4-BE49-F238E27FC236}">
                <a16:creationId xmlns:a16="http://schemas.microsoft.com/office/drawing/2014/main" id="{E483EC9B-7558-1CF8-EE49-889665C5C7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6831" y="2742260"/>
            <a:ext cx="729350" cy="729350"/>
          </a:xfrm>
          <a:prstGeom prst="rect">
            <a:avLst/>
          </a:prstGeom>
        </p:spPr>
      </p:pic>
      <p:sp>
        <p:nvSpPr>
          <p:cNvPr id="7" name="Right Triangle 17">
            <a:extLst>
              <a:ext uri="{FF2B5EF4-FFF2-40B4-BE49-F238E27FC236}">
                <a16:creationId xmlns:a16="http://schemas.microsoft.com/office/drawing/2014/main" id="{2D5A4792-9744-69B8-7AC6-E877F878C50E}"/>
              </a:ext>
            </a:extLst>
          </p:cNvPr>
          <p:cNvSpPr>
            <a:spLocks noChangeAspect="1"/>
          </p:cNvSpPr>
          <p:nvPr/>
        </p:nvSpPr>
        <p:spPr>
          <a:xfrm>
            <a:off x="5001505" y="2935527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79233" y="2431577"/>
                </a:moveTo>
                <a:lnTo>
                  <a:pt x="2179233" y="2611489"/>
                </a:lnTo>
                <a:lnTo>
                  <a:pt x="1999321" y="2611489"/>
                </a:lnTo>
                <a:lnTo>
                  <a:pt x="1999321" y="2780851"/>
                </a:lnTo>
                <a:lnTo>
                  <a:pt x="2179233" y="2780851"/>
                </a:lnTo>
                <a:lnTo>
                  <a:pt x="2179233" y="2960763"/>
                </a:lnTo>
                <a:lnTo>
                  <a:pt x="2348595" y="2960763"/>
                </a:lnTo>
                <a:lnTo>
                  <a:pt x="2348595" y="2780851"/>
                </a:lnTo>
                <a:lnTo>
                  <a:pt x="2528507" y="2780851"/>
                </a:lnTo>
                <a:lnTo>
                  <a:pt x="2528507" y="2611489"/>
                </a:lnTo>
                <a:lnTo>
                  <a:pt x="2348595" y="2611489"/>
                </a:lnTo>
                <a:lnTo>
                  <a:pt x="2348595" y="24315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" name="Pie 24">
            <a:extLst>
              <a:ext uri="{FF2B5EF4-FFF2-40B4-BE49-F238E27FC236}">
                <a16:creationId xmlns:a16="http://schemas.microsoft.com/office/drawing/2014/main" id="{A931A843-B9B6-ABFE-6951-063E6ED55FC0}"/>
              </a:ext>
            </a:extLst>
          </p:cNvPr>
          <p:cNvSpPr/>
          <p:nvPr/>
        </p:nvSpPr>
        <p:spPr>
          <a:xfrm>
            <a:off x="4561400" y="4053953"/>
            <a:ext cx="673583" cy="645596"/>
          </a:xfrm>
          <a:custGeom>
            <a:avLst/>
            <a:gdLst/>
            <a:ahLst/>
            <a:cxnLst/>
            <a:rect l="l" t="t" r="r" b="b"/>
            <a:pathLst>
              <a:path w="3228711" h="3210836">
                <a:moveTo>
                  <a:pt x="351626" y="695968"/>
                </a:moveTo>
                <a:lnTo>
                  <a:pt x="1548007" y="1678300"/>
                </a:lnTo>
                <a:lnTo>
                  <a:pt x="236194" y="2500159"/>
                </a:lnTo>
                <a:cubicBezTo>
                  <a:pt x="-116985" y="1936431"/>
                  <a:pt x="-70514" y="1210092"/>
                  <a:pt x="351626" y="695968"/>
                </a:cubicBezTo>
                <a:close/>
                <a:moveTo>
                  <a:pt x="1957429" y="262366"/>
                </a:moveTo>
                <a:cubicBezTo>
                  <a:pt x="2634256" y="359480"/>
                  <a:pt x="3156733" y="907132"/>
                  <a:pt x="3221913" y="1587776"/>
                </a:cubicBezTo>
                <a:cubicBezTo>
                  <a:pt x="3287093" y="2268421"/>
                  <a:pt x="2878048" y="2905277"/>
                  <a:pt x="2231953" y="3129078"/>
                </a:cubicBezTo>
                <a:cubicBezTo>
                  <a:pt x="1585858" y="3352879"/>
                  <a:pt x="870522" y="3105497"/>
                  <a:pt x="500715" y="2530372"/>
                </a:cubicBezTo>
                <a:lnTo>
                  <a:pt x="1746987" y="1729019"/>
                </a:lnTo>
                <a:close/>
                <a:moveTo>
                  <a:pt x="1604447" y="200"/>
                </a:moveTo>
                <a:cubicBezTo>
                  <a:pt x="1665125" y="-778"/>
                  <a:pt x="1726175" y="1809"/>
                  <a:pt x="1787307" y="8072"/>
                </a:cubicBezTo>
                <a:lnTo>
                  <a:pt x="1629532" y="1548011"/>
                </a:lnTo>
                <a:lnTo>
                  <a:pt x="483856" y="506987"/>
                </a:lnTo>
                <a:cubicBezTo>
                  <a:pt x="773141" y="188622"/>
                  <a:pt x="1179697" y="7051"/>
                  <a:pt x="1604447" y="20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6" name="Hexágono 15">
            <a:extLst>
              <a:ext uri="{FF2B5EF4-FFF2-40B4-BE49-F238E27FC236}">
                <a16:creationId xmlns:a16="http://schemas.microsoft.com/office/drawing/2014/main" id="{AA43F282-7B69-6189-F4F1-DCABD69C4D55}"/>
              </a:ext>
            </a:extLst>
          </p:cNvPr>
          <p:cNvSpPr/>
          <p:nvPr/>
        </p:nvSpPr>
        <p:spPr>
          <a:xfrm>
            <a:off x="8652544" y="4582953"/>
            <a:ext cx="438977" cy="397564"/>
          </a:xfrm>
          <a:prstGeom prst="hexag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38857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AB001A-4DF5-47A3-3E22-23B4FBE22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2800" b="1" dirty="0">
                <a:latin typeface="Calibri" panose="020F0502020204030204" pitchFamily="34" charset="0"/>
                <a:cs typeface="Calibri" panose="020F0502020204030204" pitchFamily="34" charset="0"/>
              </a:rPr>
              <a:t>PROCESSO DE TREINO</a:t>
            </a:r>
          </a:p>
        </p:txBody>
      </p:sp>
      <p:sp>
        <p:nvSpPr>
          <p:cNvPr id="93" name="Rectangle 60">
            <a:extLst>
              <a:ext uri="{FF2B5EF4-FFF2-40B4-BE49-F238E27FC236}">
                <a16:creationId xmlns:a16="http://schemas.microsoft.com/office/drawing/2014/main" id="{1A2ED17A-D91A-E06A-CE34-FFD244AAB192}"/>
              </a:ext>
            </a:extLst>
          </p:cNvPr>
          <p:cNvSpPr/>
          <p:nvPr/>
        </p:nvSpPr>
        <p:spPr>
          <a:xfrm>
            <a:off x="1098315" y="2691965"/>
            <a:ext cx="1728000" cy="47063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accent6"/>
              </a:solidFill>
            </a:endParaRPr>
          </a:p>
        </p:txBody>
      </p:sp>
      <p:sp>
        <p:nvSpPr>
          <p:cNvPr id="94" name="Rectangle 61">
            <a:extLst>
              <a:ext uri="{FF2B5EF4-FFF2-40B4-BE49-F238E27FC236}">
                <a16:creationId xmlns:a16="http://schemas.microsoft.com/office/drawing/2014/main" id="{4F3BAAB4-AF52-B969-2AE1-7182DFDDB870}"/>
              </a:ext>
            </a:extLst>
          </p:cNvPr>
          <p:cNvSpPr/>
          <p:nvPr/>
        </p:nvSpPr>
        <p:spPr>
          <a:xfrm>
            <a:off x="2838268" y="2691965"/>
            <a:ext cx="1728000" cy="47063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95" name="Rectangle 62">
            <a:extLst>
              <a:ext uri="{FF2B5EF4-FFF2-40B4-BE49-F238E27FC236}">
                <a16:creationId xmlns:a16="http://schemas.microsoft.com/office/drawing/2014/main" id="{689ABFAF-F422-8A07-5487-2ADFE1DC8699}"/>
              </a:ext>
            </a:extLst>
          </p:cNvPr>
          <p:cNvSpPr/>
          <p:nvPr/>
        </p:nvSpPr>
        <p:spPr>
          <a:xfrm>
            <a:off x="4569429" y="2691965"/>
            <a:ext cx="1728000" cy="47063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98" name="TextBox 65">
            <a:extLst>
              <a:ext uri="{FF2B5EF4-FFF2-40B4-BE49-F238E27FC236}">
                <a16:creationId xmlns:a16="http://schemas.microsoft.com/office/drawing/2014/main" id="{43332357-4DF0-564B-339B-C073FE798E8E}"/>
              </a:ext>
            </a:extLst>
          </p:cNvPr>
          <p:cNvSpPr txBox="1"/>
          <p:nvPr/>
        </p:nvSpPr>
        <p:spPr>
          <a:xfrm>
            <a:off x="1394691" y="2745194"/>
            <a:ext cx="118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 err="1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Fase</a:t>
            </a:r>
            <a:r>
              <a:rPr lang="en-US" altLang="ko-KR" sz="1800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</a:t>
            </a:r>
            <a:endParaRPr lang="ko-KR" altLang="en-US" sz="1800" b="1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9" name="TextBox 66">
            <a:extLst>
              <a:ext uri="{FF2B5EF4-FFF2-40B4-BE49-F238E27FC236}">
                <a16:creationId xmlns:a16="http://schemas.microsoft.com/office/drawing/2014/main" id="{1195E5BD-6819-1490-5915-BECF540B6241}"/>
              </a:ext>
            </a:extLst>
          </p:cNvPr>
          <p:cNvSpPr txBox="1"/>
          <p:nvPr/>
        </p:nvSpPr>
        <p:spPr>
          <a:xfrm>
            <a:off x="3121822" y="2745194"/>
            <a:ext cx="118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 err="1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Fase</a:t>
            </a:r>
            <a:r>
              <a:rPr lang="en-US" altLang="ko-KR" sz="1800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</a:t>
            </a:r>
            <a:endParaRPr lang="ko-KR" altLang="en-US" sz="1800" b="1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0" name="TextBox 67">
            <a:extLst>
              <a:ext uri="{FF2B5EF4-FFF2-40B4-BE49-F238E27FC236}">
                <a16:creationId xmlns:a16="http://schemas.microsoft.com/office/drawing/2014/main" id="{332C04CD-6621-0490-703C-4C234ECA47D0}"/>
              </a:ext>
            </a:extLst>
          </p:cNvPr>
          <p:cNvSpPr txBox="1"/>
          <p:nvPr/>
        </p:nvSpPr>
        <p:spPr>
          <a:xfrm>
            <a:off x="4848953" y="2745194"/>
            <a:ext cx="118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 err="1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Fase</a:t>
            </a:r>
            <a:r>
              <a:rPr lang="en-US" altLang="ko-KR" sz="1800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  <a:endParaRPr lang="ko-KR" altLang="en-US" sz="1800" b="1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Isosceles Triangle 71">
            <a:extLst>
              <a:ext uri="{FF2B5EF4-FFF2-40B4-BE49-F238E27FC236}">
                <a16:creationId xmlns:a16="http://schemas.microsoft.com/office/drawing/2014/main" id="{404989AD-F14A-2005-7FB1-C858CE1E1ADD}"/>
              </a:ext>
            </a:extLst>
          </p:cNvPr>
          <p:cNvSpPr/>
          <p:nvPr/>
        </p:nvSpPr>
        <p:spPr>
          <a:xfrm>
            <a:off x="1882800" y="2480913"/>
            <a:ext cx="180000" cy="216000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accent6"/>
              </a:solidFill>
            </a:endParaRPr>
          </a:p>
        </p:txBody>
      </p:sp>
      <p:sp>
        <p:nvSpPr>
          <p:cNvPr id="105" name="Isosceles Triangle 72">
            <a:extLst>
              <a:ext uri="{FF2B5EF4-FFF2-40B4-BE49-F238E27FC236}">
                <a16:creationId xmlns:a16="http://schemas.microsoft.com/office/drawing/2014/main" id="{71774FA3-8340-24AD-3F84-5F49EE54523B}"/>
              </a:ext>
            </a:extLst>
          </p:cNvPr>
          <p:cNvSpPr/>
          <p:nvPr/>
        </p:nvSpPr>
        <p:spPr>
          <a:xfrm>
            <a:off x="5343429" y="2480913"/>
            <a:ext cx="180000" cy="216000"/>
          </a:xfrm>
          <a:prstGeom prst="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07" name="Isosceles Triangle 74">
            <a:extLst>
              <a:ext uri="{FF2B5EF4-FFF2-40B4-BE49-F238E27FC236}">
                <a16:creationId xmlns:a16="http://schemas.microsoft.com/office/drawing/2014/main" id="{C814FDB6-AAA3-C429-8A10-1DF452B21DA7}"/>
              </a:ext>
            </a:extLst>
          </p:cNvPr>
          <p:cNvSpPr/>
          <p:nvPr/>
        </p:nvSpPr>
        <p:spPr>
          <a:xfrm rot="10800000">
            <a:off x="3612269" y="3159813"/>
            <a:ext cx="180000" cy="216000"/>
          </a:xfrm>
          <a:prstGeom prst="triangl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13" name="Right Triangle 10">
            <a:extLst>
              <a:ext uri="{FF2B5EF4-FFF2-40B4-BE49-F238E27FC236}">
                <a16:creationId xmlns:a16="http://schemas.microsoft.com/office/drawing/2014/main" id="{DF37D614-478B-DC59-9C25-9E474C23A567}"/>
              </a:ext>
            </a:extLst>
          </p:cNvPr>
          <p:cNvSpPr/>
          <p:nvPr/>
        </p:nvSpPr>
        <p:spPr>
          <a:xfrm rot="13436248">
            <a:off x="6329495" y="2262832"/>
            <a:ext cx="1426117" cy="1359622"/>
          </a:xfrm>
          <a:custGeom>
            <a:avLst/>
            <a:gdLst/>
            <a:ahLst/>
            <a:cxnLst/>
            <a:rect l="l" t="t" r="r" b="b"/>
            <a:pathLst>
              <a:path w="1416297" h="1353657">
                <a:moveTo>
                  <a:pt x="1416297" y="338657"/>
                </a:moveTo>
                <a:lnTo>
                  <a:pt x="342330" y="1353657"/>
                </a:lnTo>
                <a:lnTo>
                  <a:pt x="340597" y="1352019"/>
                </a:lnTo>
                <a:lnTo>
                  <a:pt x="1" y="1352019"/>
                </a:lnTo>
                <a:lnTo>
                  <a:pt x="0" y="1030124"/>
                </a:lnTo>
                <a:lnTo>
                  <a:pt x="2" y="1030125"/>
                </a:lnTo>
                <a:lnTo>
                  <a:pt x="1089972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14" name="TextBox 70">
            <a:extLst>
              <a:ext uri="{FF2B5EF4-FFF2-40B4-BE49-F238E27FC236}">
                <a16:creationId xmlns:a16="http://schemas.microsoft.com/office/drawing/2014/main" id="{5B613D6D-9BCC-C97B-929F-5A06E2C53C53}"/>
              </a:ext>
            </a:extLst>
          </p:cNvPr>
          <p:cNvSpPr txBox="1"/>
          <p:nvPr/>
        </p:nvSpPr>
        <p:spPr>
          <a:xfrm>
            <a:off x="6452958" y="2746754"/>
            <a:ext cx="118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 err="1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Fase</a:t>
            </a:r>
            <a:r>
              <a:rPr lang="en-US" altLang="ko-KR" sz="1800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4</a:t>
            </a:r>
            <a:endParaRPr lang="ko-KR" altLang="en-US" sz="1800" b="1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Isosceles Triangle 76">
            <a:extLst>
              <a:ext uri="{FF2B5EF4-FFF2-40B4-BE49-F238E27FC236}">
                <a16:creationId xmlns:a16="http://schemas.microsoft.com/office/drawing/2014/main" id="{C7BC238E-6307-8221-E6FD-EDA3BD0095BC}"/>
              </a:ext>
            </a:extLst>
          </p:cNvPr>
          <p:cNvSpPr/>
          <p:nvPr/>
        </p:nvSpPr>
        <p:spPr>
          <a:xfrm rot="10800000">
            <a:off x="7003511" y="3166934"/>
            <a:ext cx="180000" cy="216000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21" name="TextBox 13">
            <a:extLst>
              <a:ext uri="{FF2B5EF4-FFF2-40B4-BE49-F238E27FC236}">
                <a16:creationId xmlns:a16="http://schemas.microsoft.com/office/drawing/2014/main" id="{472DCA7A-DEE9-ADBD-A25A-EFD3DC272CEE}"/>
              </a:ext>
            </a:extLst>
          </p:cNvPr>
          <p:cNvSpPr txBox="1"/>
          <p:nvPr/>
        </p:nvSpPr>
        <p:spPr>
          <a:xfrm>
            <a:off x="752399" y="1495799"/>
            <a:ext cx="244080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pt-PT" b="1" i="0" dirty="0">
                <a:solidFill>
                  <a:schemeClr val="accent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ecolha de uma quantidade significativa de dados, neste caso de imagens com descrição textual</a:t>
            </a:r>
          </a:p>
          <a:p>
            <a:endParaRPr lang="pt-PT" altLang="ko-KR" b="1" dirty="0">
              <a:solidFill>
                <a:srgbClr val="DBDEE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CaixaDeTexto 122">
            <a:extLst>
              <a:ext uri="{FF2B5EF4-FFF2-40B4-BE49-F238E27FC236}">
                <a16:creationId xmlns:a16="http://schemas.microsoft.com/office/drawing/2014/main" id="{47101696-53AC-21F3-954E-65E1BC1C5290}"/>
              </a:ext>
            </a:extLst>
          </p:cNvPr>
          <p:cNvSpPr txBox="1"/>
          <p:nvPr/>
        </p:nvSpPr>
        <p:spPr>
          <a:xfrm>
            <a:off x="2481868" y="3506536"/>
            <a:ext cx="2440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b="1" i="0" dirty="0">
                <a:solidFill>
                  <a:schemeClr val="accent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Aplica-se uma distribuição gaussiana de ruído </a:t>
            </a:r>
            <a:r>
              <a:rPr lang="pt-PT" b="1" i="1" dirty="0">
                <a:solidFill>
                  <a:schemeClr val="accent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pt-PT" b="1" i="0" dirty="0">
                <a:solidFill>
                  <a:schemeClr val="accent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vezes para diminuir a qualidade da imagem</a:t>
            </a:r>
            <a:endParaRPr lang="pt-PT" b="1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6" name="CaixaDeTexto 125">
            <a:extLst>
              <a:ext uri="{FF2B5EF4-FFF2-40B4-BE49-F238E27FC236}">
                <a16:creationId xmlns:a16="http://schemas.microsoft.com/office/drawing/2014/main" id="{03F04602-7930-26F2-608B-4594E69AC0DA}"/>
              </a:ext>
            </a:extLst>
          </p:cNvPr>
          <p:cNvSpPr txBox="1"/>
          <p:nvPr/>
        </p:nvSpPr>
        <p:spPr>
          <a:xfrm>
            <a:off x="4120675" y="1432307"/>
            <a:ext cx="26255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 modelo é treinado para p</a:t>
            </a:r>
            <a:r>
              <a:rPr lang="pt-PT" b="1" i="0" dirty="0">
                <a:solidFill>
                  <a:schemeClr val="accent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rever a distribuição de ruído que foi adicionado à imagem (com a ajuda da descrição textual)</a:t>
            </a:r>
            <a:endParaRPr lang="pt-PT" b="1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8" name="CaixaDeTexto 127">
            <a:extLst>
              <a:ext uri="{FF2B5EF4-FFF2-40B4-BE49-F238E27FC236}">
                <a16:creationId xmlns:a16="http://schemas.microsoft.com/office/drawing/2014/main" id="{1FD9374F-49A1-B477-8639-4AE93D06904B}"/>
              </a:ext>
            </a:extLst>
          </p:cNvPr>
          <p:cNvSpPr txBox="1"/>
          <p:nvPr/>
        </p:nvSpPr>
        <p:spPr>
          <a:xfrm>
            <a:off x="6109971" y="3506536"/>
            <a:ext cx="19670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b="1" i="0" dirty="0">
                <a:solidFill>
                  <a:schemeClr val="accent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 ruído previsto é retirado à imagem de modo a obter a imagem original</a:t>
            </a:r>
            <a:endParaRPr lang="pt-PT" b="1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Hexágono 3">
            <a:extLst>
              <a:ext uri="{FF2B5EF4-FFF2-40B4-BE49-F238E27FC236}">
                <a16:creationId xmlns:a16="http://schemas.microsoft.com/office/drawing/2014/main" id="{134F5CB9-06EB-59AD-3CE7-AA2CA6794361}"/>
              </a:ext>
            </a:extLst>
          </p:cNvPr>
          <p:cNvSpPr/>
          <p:nvPr/>
        </p:nvSpPr>
        <p:spPr>
          <a:xfrm>
            <a:off x="8652544" y="4582953"/>
            <a:ext cx="438977" cy="397564"/>
          </a:xfrm>
          <a:prstGeom prst="hexag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06897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A44196-35C6-0A88-CE66-8F92A050D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2800" b="1" dirty="0">
                <a:latin typeface="Calibri" panose="020F0502020204030204" pitchFamily="34" charset="0"/>
                <a:cs typeface="Calibri" panose="020F0502020204030204" pitchFamily="34" charset="0"/>
              </a:rPr>
              <a:t>PROCESSO DE INFERÊNCIA</a:t>
            </a:r>
          </a:p>
        </p:txBody>
      </p:sp>
      <p:sp>
        <p:nvSpPr>
          <p:cNvPr id="9" name="Rectangle 60">
            <a:extLst>
              <a:ext uri="{FF2B5EF4-FFF2-40B4-BE49-F238E27FC236}">
                <a16:creationId xmlns:a16="http://schemas.microsoft.com/office/drawing/2014/main" id="{BD5111CF-FBC4-8D32-CC10-5986D1039157}"/>
              </a:ext>
            </a:extLst>
          </p:cNvPr>
          <p:cNvSpPr/>
          <p:nvPr/>
        </p:nvSpPr>
        <p:spPr>
          <a:xfrm>
            <a:off x="2826127" y="2745083"/>
            <a:ext cx="1728000" cy="47063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accent6"/>
              </a:solidFill>
            </a:endParaRPr>
          </a:p>
        </p:txBody>
      </p:sp>
      <p:sp>
        <p:nvSpPr>
          <p:cNvPr id="10" name="Rectangle 61">
            <a:extLst>
              <a:ext uri="{FF2B5EF4-FFF2-40B4-BE49-F238E27FC236}">
                <a16:creationId xmlns:a16="http://schemas.microsoft.com/office/drawing/2014/main" id="{4AAF7AAB-1AFB-9F57-8122-9E62BAF99678}"/>
              </a:ext>
            </a:extLst>
          </p:cNvPr>
          <p:cNvSpPr/>
          <p:nvPr/>
        </p:nvSpPr>
        <p:spPr>
          <a:xfrm>
            <a:off x="4566080" y="2745083"/>
            <a:ext cx="1728000" cy="47063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1" name="Rectangle 62">
            <a:extLst>
              <a:ext uri="{FF2B5EF4-FFF2-40B4-BE49-F238E27FC236}">
                <a16:creationId xmlns:a16="http://schemas.microsoft.com/office/drawing/2014/main" id="{4BB97B8F-C049-6E54-216C-90CA00083643}"/>
              </a:ext>
            </a:extLst>
          </p:cNvPr>
          <p:cNvSpPr/>
          <p:nvPr/>
        </p:nvSpPr>
        <p:spPr>
          <a:xfrm>
            <a:off x="6297241" y="2745083"/>
            <a:ext cx="1728000" cy="47063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2" name="TextBox 65">
            <a:extLst>
              <a:ext uri="{FF2B5EF4-FFF2-40B4-BE49-F238E27FC236}">
                <a16:creationId xmlns:a16="http://schemas.microsoft.com/office/drawing/2014/main" id="{30A2A862-DD46-3956-4E9E-07D6FCCD51B4}"/>
              </a:ext>
            </a:extLst>
          </p:cNvPr>
          <p:cNvSpPr txBox="1"/>
          <p:nvPr/>
        </p:nvSpPr>
        <p:spPr>
          <a:xfrm>
            <a:off x="3122503" y="2798312"/>
            <a:ext cx="118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 err="1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Fase</a:t>
            </a:r>
            <a:r>
              <a:rPr lang="en-US" altLang="ko-KR" sz="1800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  <a:endParaRPr lang="ko-KR" altLang="en-US" sz="1800" b="1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66">
            <a:extLst>
              <a:ext uri="{FF2B5EF4-FFF2-40B4-BE49-F238E27FC236}">
                <a16:creationId xmlns:a16="http://schemas.microsoft.com/office/drawing/2014/main" id="{3BFC0D5C-C640-DF1E-FE1D-1B46DE0B6B6E}"/>
              </a:ext>
            </a:extLst>
          </p:cNvPr>
          <p:cNvSpPr txBox="1"/>
          <p:nvPr/>
        </p:nvSpPr>
        <p:spPr>
          <a:xfrm>
            <a:off x="4849634" y="2798312"/>
            <a:ext cx="118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 err="1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Fase</a:t>
            </a:r>
            <a:r>
              <a:rPr lang="en-US" altLang="ko-KR" sz="1800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</a:t>
            </a:r>
            <a:endParaRPr lang="ko-KR" altLang="en-US" sz="1800" b="1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67">
            <a:extLst>
              <a:ext uri="{FF2B5EF4-FFF2-40B4-BE49-F238E27FC236}">
                <a16:creationId xmlns:a16="http://schemas.microsoft.com/office/drawing/2014/main" id="{952D5839-B1CE-CA7A-2A78-33E5FD28DABF}"/>
              </a:ext>
            </a:extLst>
          </p:cNvPr>
          <p:cNvSpPr txBox="1"/>
          <p:nvPr/>
        </p:nvSpPr>
        <p:spPr>
          <a:xfrm>
            <a:off x="6576765" y="2798312"/>
            <a:ext cx="118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 err="1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Fase</a:t>
            </a:r>
            <a:r>
              <a:rPr lang="en-US" altLang="ko-KR" sz="1800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</a:t>
            </a:r>
            <a:endParaRPr lang="ko-KR" altLang="en-US" sz="1800" b="1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Isosceles Triangle 71">
            <a:extLst>
              <a:ext uri="{FF2B5EF4-FFF2-40B4-BE49-F238E27FC236}">
                <a16:creationId xmlns:a16="http://schemas.microsoft.com/office/drawing/2014/main" id="{476F2CE6-6F58-CCD2-BB99-C26225D91677}"/>
              </a:ext>
            </a:extLst>
          </p:cNvPr>
          <p:cNvSpPr/>
          <p:nvPr/>
        </p:nvSpPr>
        <p:spPr>
          <a:xfrm>
            <a:off x="3610612" y="2534031"/>
            <a:ext cx="180000" cy="2160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accent6"/>
              </a:solidFill>
            </a:endParaRPr>
          </a:p>
        </p:txBody>
      </p:sp>
      <p:sp>
        <p:nvSpPr>
          <p:cNvPr id="16" name="Isosceles Triangle 72">
            <a:extLst>
              <a:ext uri="{FF2B5EF4-FFF2-40B4-BE49-F238E27FC236}">
                <a16:creationId xmlns:a16="http://schemas.microsoft.com/office/drawing/2014/main" id="{56B032D6-D9C6-E71E-E781-448B814CE8AD}"/>
              </a:ext>
            </a:extLst>
          </p:cNvPr>
          <p:cNvSpPr/>
          <p:nvPr/>
        </p:nvSpPr>
        <p:spPr>
          <a:xfrm>
            <a:off x="7071241" y="2534031"/>
            <a:ext cx="180000" cy="216000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7" name="Isosceles Triangle 74">
            <a:extLst>
              <a:ext uri="{FF2B5EF4-FFF2-40B4-BE49-F238E27FC236}">
                <a16:creationId xmlns:a16="http://schemas.microsoft.com/office/drawing/2014/main" id="{EF82FCF4-3541-7C54-577A-6AB0A39580DE}"/>
              </a:ext>
            </a:extLst>
          </p:cNvPr>
          <p:cNvSpPr/>
          <p:nvPr/>
        </p:nvSpPr>
        <p:spPr>
          <a:xfrm rot="10800000">
            <a:off x="5340081" y="3212931"/>
            <a:ext cx="180000" cy="216000"/>
          </a:xfrm>
          <a:prstGeom prst="triangl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8" name="Right Triangle 10">
            <a:extLst>
              <a:ext uri="{FF2B5EF4-FFF2-40B4-BE49-F238E27FC236}">
                <a16:creationId xmlns:a16="http://schemas.microsoft.com/office/drawing/2014/main" id="{7D37DF30-BE1A-E938-7293-DF4A1D02FA5A}"/>
              </a:ext>
            </a:extLst>
          </p:cNvPr>
          <p:cNvSpPr/>
          <p:nvPr/>
        </p:nvSpPr>
        <p:spPr>
          <a:xfrm rot="2630860">
            <a:off x="1388209" y="2293581"/>
            <a:ext cx="1400906" cy="1343440"/>
          </a:xfrm>
          <a:custGeom>
            <a:avLst/>
            <a:gdLst/>
            <a:ahLst/>
            <a:cxnLst/>
            <a:rect l="l" t="t" r="r" b="b"/>
            <a:pathLst>
              <a:path w="1416297" h="1353657">
                <a:moveTo>
                  <a:pt x="1416297" y="338657"/>
                </a:moveTo>
                <a:lnTo>
                  <a:pt x="342330" y="1353657"/>
                </a:lnTo>
                <a:lnTo>
                  <a:pt x="340597" y="1352019"/>
                </a:lnTo>
                <a:lnTo>
                  <a:pt x="1" y="1352019"/>
                </a:lnTo>
                <a:lnTo>
                  <a:pt x="0" y="1030124"/>
                </a:lnTo>
                <a:lnTo>
                  <a:pt x="2" y="1030125"/>
                </a:lnTo>
                <a:lnTo>
                  <a:pt x="1089972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1" name="TextBox 13">
            <a:extLst>
              <a:ext uri="{FF2B5EF4-FFF2-40B4-BE49-F238E27FC236}">
                <a16:creationId xmlns:a16="http://schemas.microsoft.com/office/drawing/2014/main" id="{8569D4F3-6F85-1152-0C17-1B9DD3890C0E}"/>
              </a:ext>
            </a:extLst>
          </p:cNvPr>
          <p:cNvSpPr txBox="1"/>
          <p:nvPr/>
        </p:nvSpPr>
        <p:spPr>
          <a:xfrm>
            <a:off x="2730126" y="1687924"/>
            <a:ext cx="19409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Processo de remoção de ruído realizado iterativamente </a:t>
            </a:r>
            <a:r>
              <a:rPr lang="pt-PT" b="1" i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 </a:t>
            </a:r>
            <a:r>
              <a:rPr lang="pt-PT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vezes</a:t>
            </a:r>
            <a:endParaRPr lang="pt-PT" b="1" i="0" dirty="0">
              <a:solidFill>
                <a:schemeClr val="accent6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pt-PT" altLang="ko-KR" b="1" dirty="0">
              <a:solidFill>
                <a:srgbClr val="DBDEE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A6AAB9C-A1D2-F634-F03E-D0F4D708D800}"/>
              </a:ext>
            </a:extLst>
          </p:cNvPr>
          <p:cNvSpPr txBox="1"/>
          <p:nvPr/>
        </p:nvSpPr>
        <p:spPr>
          <a:xfrm>
            <a:off x="4200369" y="3565638"/>
            <a:ext cx="24594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 modelo retira o ruído baseando-se no texto fornecido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2ED425B-9B80-EC76-1FE9-06AB91EF4BF1}"/>
              </a:ext>
            </a:extLst>
          </p:cNvPr>
          <p:cNvSpPr txBox="1"/>
          <p:nvPr/>
        </p:nvSpPr>
        <p:spPr>
          <a:xfrm>
            <a:off x="5898482" y="1739036"/>
            <a:ext cx="252551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É fornecido ao modelo uma descrição textual da imagem e ruído aleatório</a:t>
            </a:r>
          </a:p>
        </p:txBody>
      </p:sp>
      <p:sp>
        <p:nvSpPr>
          <p:cNvPr id="26" name="TextBox 65">
            <a:extLst>
              <a:ext uri="{FF2B5EF4-FFF2-40B4-BE49-F238E27FC236}">
                <a16:creationId xmlns:a16="http://schemas.microsoft.com/office/drawing/2014/main" id="{3608D80E-F412-916B-CEDA-B688AF2F21A1}"/>
              </a:ext>
            </a:extLst>
          </p:cNvPr>
          <p:cNvSpPr txBox="1"/>
          <p:nvPr/>
        </p:nvSpPr>
        <p:spPr>
          <a:xfrm>
            <a:off x="1494662" y="2798312"/>
            <a:ext cx="118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 err="1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Fase</a:t>
            </a:r>
            <a:r>
              <a:rPr lang="en-US" altLang="ko-KR" sz="1800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4</a:t>
            </a:r>
            <a:endParaRPr lang="ko-KR" altLang="en-US" sz="1800" b="1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12012A42-4D47-CC3D-E76A-C759362DDE75}"/>
              </a:ext>
            </a:extLst>
          </p:cNvPr>
          <p:cNvSpPr txBox="1"/>
          <p:nvPr/>
        </p:nvSpPr>
        <p:spPr>
          <a:xfrm>
            <a:off x="1020499" y="3560968"/>
            <a:ext cx="21363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Obtenção de uma imagem limpa que espelha a descrição textual</a:t>
            </a:r>
            <a:endParaRPr lang="pt-PT" b="1" i="0" dirty="0">
              <a:solidFill>
                <a:schemeClr val="accent6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pt-PT" altLang="ko-KR" b="1" dirty="0">
              <a:solidFill>
                <a:srgbClr val="DBDEE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Isosceles Triangle 74">
            <a:extLst>
              <a:ext uri="{FF2B5EF4-FFF2-40B4-BE49-F238E27FC236}">
                <a16:creationId xmlns:a16="http://schemas.microsoft.com/office/drawing/2014/main" id="{617CD148-9897-4DE9-B57C-BC60B1D70AE7}"/>
              </a:ext>
            </a:extLst>
          </p:cNvPr>
          <p:cNvSpPr/>
          <p:nvPr/>
        </p:nvSpPr>
        <p:spPr>
          <a:xfrm rot="10800000">
            <a:off x="1998662" y="3191114"/>
            <a:ext cx="180000" cy="216000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30" name="Hexágono 29">
            <a:extLst>
              <a:ext uri="{FF2B5EF4-FFF2-40B4-BE49-F238E27FC236}">
                <a16:creationId xmlns:a16="http://schemas.microsoft.com/office/drawing/2014/main" id="{E8F41525-E639-50D7-698B-67FFC18DA8C9}"/>
              </a:ext>
            </a:extLst>
          </p:cNvPr>
          <p:cNvSpPr/>
          <p:nvPr/>
        </p:nvSpPr>
        <p:spPr>
          <a:xfrm>
            <a:off x="8652544" y="4582953"/>
            <a:ext cx="438977" cy="397564"/>
          </a:xfrm>
          <a:prstGeom prst="hexag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45220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610080-92ED-15A2-9ED6-A3151F20C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2800" b="1" dirty="0">
                <a:latin typeface="Calibri" panose="020F0502020204030204" pitchFamily="34" charset="0"/>
                <a:cs typeface="Calibri" panose="020F0502020204030204" pitchFamily="34" charset="0"/>
              </a:rPr>
              <a:t>EXEMPLO DE PROCESSO DE TREINO/INFERÊNCIA</a:t>
            </a:r>
          </a:p>
        </p:txBody>
      </p:sp>
      <p:pic>
        <p:nvPicPr>
          <p:cNvPr id="14" name="Imagem 13" descr="Uma imagem com texto&#10;&#10;Descrição gerada automaticamente">
            <a:extLst>
              <a:ext uri="{FF2B5EF4-FFF2-40B4-BE49-F238E27FC236}">
                <a16:creationId xmlns:a16="http://schemas.microsoft.com/office/drawing/2014/main" id="{9D5256BD-4692-C2D5-BF76-3A78B1A08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07" y="1943100"/>
            <a:ext cx="8532986" cy="2350745"/>
          </a:xfrm>
          <a:prstGeom prst="rect">
            <a:avLst/>
          </a:prstGeom>
        </p:spPr>
      </p:pic>
      <p:sp>
        <p:nvSpPr>
          <p:cNvPr id="19" name="직사각형 71">
            <a:extLst>
              <a:ext uri="{FF2B5EF4-FFF2-40B4-BE49-F238E27FC236}">
                <a16:creationId xmlns:a16="http://schemas.microsoft.com/office/drawing/2014/main" id="{C0A2A5B4-70CB-863C-FDD3-24BCD80BDF16}"/>
              </a:ext>
            </a:extLst>
          </p:cNvPr>
          <p:cNvSpPr/>
          <p:nvPr/>
        </p:nvSpPr>
        <p:spPr>
          <a:xfrm rot="16200000">
            <a:off x="4778839" y="-1533733"/>
            <a:ext cx="49970" cy="7613235"/>
          </a:xfrm>
          <a:prstGeom prst="rect">
            <a:avLst/>
          </a:prstGeom>
          <a:solidFill>
            <a:schemeClr val="tx1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0" name="Isosceles Triangle 23">
            <a:extLst>
              <a:ext uri="{FF2B5EF4-FFF2-40B4-BE49-F238E27FC236}">
                <a16:creationId xmlns:a16="http://schemas.microsoft.com/office/drawing/2014/main" id="{DC8A9B0E-FB95-9A30-C962-E9F73F9E7635}"/>
              </a:ext>
            </a:extLst>
          </p:cNvPr>
          <p:cNvSpPr/>
          <p:nvPr/>
        </p:nvSpPr>
        <p:spPr>
          <a:xfrm rot="16200000">
            <a:off x="817314" y="2200401"/>
            <a:ext cx="198239" cy="161545"/>
          </a:xfrm>
          <a:prstGeom prst="triangle">
            <a:avLst/>
          </a:prstGeom>
          <a:solidFill>
            <a:schemeClr val="tx1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직사각형 71">
            <a:extLst>
              <a:ext uri="{FF2B5EF4-FFF2-40B4-BE49-F238E27FC236}">
                <a16:creationId xmlns:a16="http://schemas.microsoft.com/office/drawing/2014/main" id="{490D166A-60F5-1839-CAAE-3E30A1FE1243}"/>
              </a:ext>
            </a:extLst>
          </p:cNvPr>
          <p:cNvSpPr/>
          <p:nvPr/>
        </p:nvSpPr>
        <p:spPr>
          <a:xfrm rot="16200000">
            <a:off x="4617294" y="115973"/>
            <a:ext cx="49970" cy="7613235"/>
          </a:xfrm>
          <a:prstGeom prst="rect">
            <a:avLst/>
          </a:prstGeom>
          <a:solidFill>
            <a:schemeClr val="tx1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2" name="Isosceles Triangle 23">
            <a:extLst>
              <a:ext uri="{FF2B5EF4-FFF2-40B4-BE49-F238E27FC236}">
                <a16:creationId xmlns:a16="http://schemas.microsoft.com/office/drawing/2014/main" id="{E41FCE4F-AF2F-2479-7430-FB742D8264D5}"/>
              </a:ext>
            </a:extLst>
          </p:cNvPr>
          <p:cNvSpPr/>
          <p:nvPr/>
        </p:nvSpPr>
        <p:spPr>
          <a:xfrm rot="5400000">
            <a:off x="8430551" y="3841817"/>
            <a:ext cx="198239" cy="161545"/>
          </a:xfrm>
          <a:prstGeom prst="triangle">
            <a:avLst/>
          </a:prstGeom>
          <a:solidFill>
            <a:schemeClr val="tx1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13">
            <a:extLst>
              <a:ext uri="{FF2B5EF4-FFF2-40B4-BE49-F238E27FC236}">
                <a16:creationId xmlns:a16="http://schemas.microsoft.com/office/drawing/2014/main" id="{3152FDF1-FC43-E9A0-3211-7D0F52C6B8A4}"/>
              </a:ext>
            </a:extLst>
          </p:cNvPr>
          <p:cNvSpPr txBox="1"/>
          <p:nvPr/>
        </p:nvSpPr>
        <p:spPr>
          <a:xfrm>
            <a:off x="8044358" y="2924076"/>
            <a:ext cx="9706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Ruído</a:t>
            </a:r>
            <a:endParaRPr lang="pt-PT" sz="1600" b="1" i="0" dirty="0">
              <a:solidFill>
                <a:schemeClr val="accent6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pt-PT" altLang="ko-KR" b="1" dirty="0">
              <a:solidFill>
                <a:srgbClr val="DBDEE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C9BD8466-6D05-CE95-6D0E-EDA18D9A845B}"/>
              </a:ext>
            </a:extLst>
          </p:cNvPr>
          <p:cNvSpPr txBox="1"/>
          <p:nvPr/>
        </p:nvSpPr>
        <p:spPr>
          <a:xfrm>
            <a:off x="138671" y="2961635"/>
            <a:ext cx="9706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Imagem</a:t>
            </a:r>
            <a:endParaRPr lang="pt-PT" sz="1600" b="1" i="0" dirty="0">
              <a:solidFill>
                <a:schemeClr val="accent6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pt-PT" altLang="ko-KR" b="1" dirty="0">
              <a:solidFill>
                <a:srgbClr val="DBDEE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DF1FECE0-9158-49D5-5EB8-D20DE556B87B}"/>
              </a:ext>
            </a:extLst>
          </p:cNvPr>
          <p:cNvSpPr txBox="1"/>
          <p:nvPr/>
        </p:nvSpPr>
        <p:spPr>
          <a:xfrm>
            <a:off x="2971800" y="1642256"/>
            <a:ext cx="3025140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PT" sz="1600" b="1" dirty="0">
                <a:solidFill>
                  <a:schemeClr val="accent6"/>
                </a:solidFill>
                <a:latin typeface="Calibri"/>
                <a:cs typeface="Calibri"/>
              </a:rPr>
              <a:t>Processo de difusão</a:t>
            </a:r>
            <a:endParaRPr lang="pt-PT" sz="1600" b="1" i="0" dirty="0">
              <a:solidFill>
                <a:schemeClr val="accent6"/>
              </a:solidFill>
              <a:effectLst/>
              <a:latin typeface="Calibri"/>
              <a:cs typeface="Calibri"/>
            </a:endParaRPr>
          </a:p>
          <a:p>
            <a:endParaRPr lang="pt-PT" altLang="ko-KR" b="1" dirty="0">
              <a:solidFill>
                <a:srgbClr val="DBDEE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Box 13">
            <a:extLst>
              <a:ext uri="{FF2B5EF4-FFF2-40B4-BE49-F238E27FC236}">
                <a16:creationId xmlns:a16="http://schemas.microsoft.com/office/drawing/2014/main" id="{9C5C7FCC-8206-89F8-92CE-7FBB5C435C2A}"/>
              </a:ext>
            </a:extLst>
          </p:cNvPr>
          <p:cNvSpPr txBox="1"/>
          <p:nvPr/>
        </p:nvSpPr>
        <p:spPr>
          <a:xfrm>
            <a:off x="2419350" y="4137124"/>
            <a:ext cx="4130040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PT" sz="1600" b="1" dirty="0">
                <a:solidFill>
                  <a:schemeClr val="accent6"/>
                </a:solidFill>
                <a:latin typeface="Calibri"/>
                <a:cs typeface="Calibri"/>
              </a:rPr>
              <a:t>Processo de adição de ruído</a:t>
            </a:r>
          </a:p>
        </p:txBody>
      </p:sp>
      <p:sp>
        <p:nvSpPr>
          <p:cNvPr id="30" name="Hexágono 29">
            <a:extLst>
              <a:ext uri="{FF2B5EF4-FFF2-40B4-BE49-F238E27FC236}">
                <a16:creationId xmlns:a16="http://schemas.microsoft.com/office/drawing/2014/main" id="{B40F5256-BAE5-54F2-85C4-03F9D87A607F}"/>
              </a:ext>
            </a:extLst>
          </p:cNvPr>
          <p:cNvSpPr/>
          <p:nvPr/>
        </p:nvSpPr>
        <p:spPr>
          <a:xfrm>
            <a:off x="8652544" y="4582953"/>
            <a:ext cx="438977" cy="397564"/>
          </a:xfrm>
          <a:prstGeom prst="hexag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514906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7"/>
          <p:cNvSpPr txBox="1">
            <a:spLocks noGrp="1"/>
          </p:cNvSpPr>
          <p:nvPr>
            <p:ph type="title"/>
          </p:nvPr>
        </p:nvSpPr>
        <p:spPr>
          <a:xfrm>
            <a:off x="4190625" y="207963"/>
            <a:ext cx="42384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Calibri" panose="020F0502020204030204" pitchFamily="34" charset="0"/>
                <a:cs typeface="Calibri" panose="020F0502020204030204" pitchFamily="34" charset="0"/>
              </a:rPr>
              <a:t>APLICABILIDADE</a:t>
            </a:r>
            <a:endParaRPr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26" name="Google Shape;226;p37"/>
          <p:cNvPicPr preferRelativeResize="0"/>
          <p:nvPr/>
        </p:nvPicPr>
        <p:blipFill rotWithShape="1">
          <a:blip r:embed="rId3">
            <a:alphaModFix/>
          </a:blip>
          <a:srcRect l="35486" r="23972" b="11363"/>
          <a:stretch/>
        </p:blipFill>
        <p:spPr>
          <a:xfrm>
            <a:off x="-375660" y="87771"/>
            <a:ext cx="3799248" cy="4672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9274;p74">
            <a:extLst>
              <a:ext uri="{FF2B5EF4-FFF2-40B4-BE49-F238E27FC236}">
                <a16:creationId xmlns:a16="http://schemas.microsoft.com/office/drawing/2014/main" id="{7B3854A7-8D91-5CC0-3A87-D3AFFA146862}"/>
              </a:ext>
            </a:extLst>
          </p:cNvPr>
          <p:cNvGrpSpPr/>
          <p:nvPr/>
        </p:nvGrpSpPr>
        <p:grpSpPr>
          <a:xfrm>
            <a:off x="1357649" y="2441776"/>
            <a:ext cx="1007092" cy="813132"/>
            <a:chOff x="7608988" y="2093194"/>
            <a:chExt cx="817277" cy="672147"/>
          </a:xfrm>
          <a:solidFill>
            <a:schemeClr val="tx2">
              <a:lumMod val="40000"/>
              <a:lumOff val="60000"/>
            </a:schemeClr>
          </a:solidFill>
        </p:grpSpPr>
        <p:cxnSp>
          <p:nvCxnSpPr>
            <p:cNvPr id="3" name="Google Shape;9275;p74">
              <a:extLst>
                <a:ext uri="{FF2B5EF4-FFF2-40B4-BE49-F238E27FC236}">
                  <a16:creationId xmlns:a16="http://schemas.microsoft.com/office/drawing/2014/main" id="{0733D025-EC8C-70D5-1C8D-5025EDDCB519}"/>
                </a:ext>
              </a:extLst>
            </p:cNvPr>
            <p:cNvCxnSpPr/>
            <p:nvPr/>
          </p:nvCxnSpPr>
          <p:spPr>
            <a:xfrm rot="5400000" flipH="1">
              <a:off x="7620257" y="2136491"/>
              <a:ext cx="129900" cy="111300"/>
            </a:xfrm>
            <a:prstGeom prst="bentConnector3">
              <a:avLst>
                <a:gd name="adj1" fmla="val 50000"/>
              </a:avLst>
            </a:prstGeom>
            <a:grp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" name="Google Shape;9276;p74">
              <a:extLst>
                <a:ext uri="{FF2B5EF4-FFF2-40B4-BE49-F238E27FC236}">
                  <a16:creationId xmlns:a16="http://schemas.microsoft.com/office/drawing/2014/main" id="{665B90F7-AD6E-BA2F-0256-99883E465744}"/>
                </a:ext>
              </a:extLst>
            </p:cNvPr>
            <p:cNvCxnSpPr/>
            <p:nvPr/>
          </p:nvCxnSpPr>
          <p:spPr>
            <a:xfrm rot="-5400000">
              <a:off x="8285120" y="2136491"/>
              <a:ext cx="129900" cy="111300"/>
            </a:xfrm>
            <a:prstGeom prst="bentConnector3">
              <a:avLst>
                <a:gd name="adj1" fmla="val 50000"/>
              </a:avLst>
            </a:prstGeom>
            <a:grp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" name="Google Shape;9277;p74">
              <a:extLst>
                <a:ext uri="{FF2B5EF4-FFF2-40B4-BE49-F238E27FC236}">
                  <a16:creationId xmlns:a16="http://schemas.microsoft.com/office/drawing/2014/main" id="{F4E13C71-982D-2AC0-B1EB-97D33B36B537}"/>
                </a:ext>
              </a:extLst>
            </p:cNvPr>
            <p:cNvCxnSpPr/>
            <p:nvPr/>
          </p:nvCxnSpPr>
          <p:spPr>
            <a:xfrm rot="5400000">
              <a:off x="7620257" y="2644741"/>
              <a:ext cx="129900" cy="111300"/>
            </a:xfrm>
            <a:prstGeom prst="bentConnector3">
              <a:avLst>
                <a:gd name="adj1" fmla="val 50000"/>
              </a:avLst>
            </a:prstGeom>
            <a:grp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" name="Google Shape;9278;p74">
              <a:extLst>
                <a:ext uri="{FF2B5EF4-FFF2-40B4-BE49-F238E27FC236}">
                  <a16:creationId xmlns:a16="http://schemas.microsoft.com/office/drawing/2014/main" id="{CC194028-4622-2519-2571-B7995EBBCE0A}"/>
                </a:ext>
              </a:extLst>
            </p:cNvPr>
            <p:cNvCxnSpPr/>
            <p:nvPr/>
          </p:nvCxnSpPr>
          <p:spPr>
            <a:xfrm rot="-5400000" flipH="1">
              <a:off x="8285120" y="2644741"/>
              <a:ext cx="129900" cy="111300"/>
            </a:xfrm>
            <a:prstGeom prst="bentConnector3">
              <a:avLst>
                <a:gd name="adj1" fmla="val 50000"/>
              </a:avLst>
            </a:prstGeom>
            <a:grp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9279;p74">
              <a:extLst>
                <a:ext uri="{FF2B5EF4-FFF2-40B4-BE49-F238E27FC236}">
                  <a16:creationId xmlns:a16="http://schemas.microsoft.com/office/drawing/2014/main" id="{318E9A9F-6752-2BEE-05BE-AC58B595434A}"/>
                </a:ext>
              </a:extLst>
            </p:cNvPr>
            <p:cNvCxnSpPr/>
            <p:nvPr/>
          </p:nvCxnSpPr>
          <p:spPr>
            <a:xfrm rot="10800000">
              <a:off x="7608988" y="2425132"/>
              <a:ext cx="83400" cy="0"/>
            </a:xfrm>
            <a:prstGeom prst="straightConnector1">
              <a:avLst/>
            </a:prstGeom>
            <a:grp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9280;p74">
              <a:extLst>
                <a:ext uri="{FF2B5EF4-FFF2-40B4-BE49-F238E27FC236}">
                  <a16:creationId xmlns:a16="http://schemas.microsoft.com/office/drawing/2014/main" id="{CC55B673-A20F-7202-50BD-13B3CDD921E8}"/>
                </a:ext>
              </a:extLst>
            </p:cNvPr>
            <p:cNvCxnSpPr/>
            <p:nvPr/>
          </p:nvCxnSpPr>
          <p:spPr>
            <a:xfrm rot="10800000">
              <a:off x="8342865" y="2425132"/>
              <a:ext cx="83400" cy="0"/>
            </a:xfrm>
            <a:prstGeom prst="straightConnector1">
              <a:avLst/>
            </a:prstGeom>
            <a:grp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9" name="Google Shape;9281;p74">
              <a:extLst>
                <a:ext uri="{FF2B5EF4-FFF2-40B4-BE49-F238E27FC236}">
                  <a16:creationId xmlns:a16="http://schemas.microsoft.com/office/drawing/2014/main" id="{B7E49A3C-FD43-9E4E-15AD-342C9971B36A}"/>
                </a:ext>
              </a:extLst>
            </p:cNvPr>
            <p:cNvGrpSpPr/>
            <p:nvPr/>
          </p:nvGrpSpPr>
          <p:grpSpPr>
            <a:xfrm>
              <a:off x="7721175" y="2093194"/>
              <a:ext cx="599589" cy="623846"/>
              <a:chOff x="7721175" y="2093194"/>
              <a:chExt cx="599589" cy="623846"/>
            </a:xfrm>
            <a:grpFill/>
          </p:grpSpPr>
          <p:grpSp>
            <p:nvGrpSpPr>
              <p:cNvPr id="10" name="Google Shape;9282;p74">
                <a:extLst>
                  <a:ext uri="{FF2B5EF4-FFF2-40B4-BE49-F238E27FC236}">
                    <a16:creationId xmlns:a16="http://schemas.microsoft.com/office/drawing/2014/main" id="{EE583F33-C493-46C8-93B5-D469CC7B93BC}"/>
                  </a:ext>
                </a:extLst>
              </p:cNvPr>
              <p:cNvGrpSpPr/>
              <p:nvPr/>
            </p:nvGrpSpPr>
            <p:grpSpPr>
              <a:xfrm>
                <a:off x="7721175" y="2093194"/>
                <a:ext cx="291605" cy="623846"/>
                <a:chOff x="9405575" y="2061418"/>
                <a:chExt cx="291605" cy="623846"/>
              </a:xfrm>
              <a:grpFill/>
            </p:grpSpPr>
            <p:sp>
              <p:nvSpPr>
                <p:cNvPr id="19" name="Google Shape;9283;p74">
                  <a:extLst>
                    <a:ext uri="{FF2B5EF4-FFF2-40B4-BE49-F238E27FC236}">
                      <a16:creationId xmlns:a16="http://schemas.microsoft.com/office/drawing/2014/main" id="{9F832BF1-E50F-6526-B7F9-320C4F5C302D}"/>
                    </a:ext>
                  </a:extLst>
                </p:cNvPr>
                <p:cNvSpPr/>
                <p:nvPr/>
              </p:nvSpPr>
              <p:spPr>
                <a:xfrm>
                  <a:off x="9405575" y="2061418"/>
                  <a:ext cx="291379" cy="623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3" h="45503" extrusionOk="0">
                      <a:moveTo>
                        <a:pt x="17225" y="1059"/>
                      </a:moveTo>
                      <a:cubicBezTo>
                        <a:pt x="20066" y="1059"/>
                        <a:pt x="20192" y="4831"/>
                        <a:pt x="20195" y="4980"/>
                      </a:cubicBezTo>
                      <a:lnTo>
                        <a:pt x="20195" y="42658"/>
                      </a:lnTo>
                      <a:cubicBezTo>
                        <a:pt x="19755" y="43076"/>
                        <a:pt x="18011" y="44441"/>
                        <a:pt x="14035" y="44441"/>
                      </a:cubicBezTo>
                      <a:cubicBezTo>
                        <a:pt x="9143" y="44441"/>
                        <a:pt x="6607" y="41481"/>
                        <a:pt x="6264" y="38549"/>
                      </a:cubicBezTo>
                      <a:cubicBezTo>
                        <a:pt x="6238" y="38342"/>
                        <a:pt x="6089" y="38168"/>
                        <a:pt x="5889" y="38106"/>
                      </a:cubicBezTo>
                      <a:cubicBezTo>
                        <a:pt x="5769" y="38071"/>
                        <a:pt x="2987" y="37194"/>
                        <a:pt x="3045" y="34127"/>
                      </a:cubicBezTo>
                      <a:cubicBezTo>
                        <a:pt x="3067" y="32998"/>
                        <a:pt x="3194" y="32212"/>
                        <a:pt x="3449" y="31665"/>
                      </a:cubicBezTo>
                      <a:cubicBezTo>
                        <a:pt x="3449" y="31665"/>
                        <a:pt x="3682" y="31319"/>
                        <a:pt x="3685" y="31277"/>
                      </a:cubicBezTo>
                      <a:cubicBezTo>
                        <a:pt x="3740" y="31205"/>
                        <a:pt x="3799" y="31141"/>
                        <a:pt x="3863" y="31082"/>
                      </a:cubicBezTo>
                      <a:cubicBezTo>
                        <a:pt x="4404" y="30567"/>
                        <a:pt x="5365" y="30335"/>
                        <a:pt x="7020" y="30335"/>
                      </a:cubicBezTo>
                      <a:cubicBezTo>
                        <a:pt x="7247" y="30335"/>
                        <a:pt x="7486" y="30339"/>
                        <a:pt x="7739" y="30348"/>
                      </a:cubicBezTo>
                      <a:cubicBezTo>
                        <a:pt x="8968" y="30388"/>
                        <a:pt x="10320" y="30407"/>
                        <a:pt x="11768" y="30407"/>
                      </a:cubicBezTo>
                      <a:cubicBezTo>
                        <a:pt x="11975" y="30407"/>
                        <a:pt x="12184" y="30407"/>
                        <a:pt x="12395" y="30406"/>
                      </a:cubicBezTo>
                      <a:lnTo>
                        <a:pt x="12408" y="30406"/>
                      </a:lnTo>
                      <a:cubicBezTo>
                        <a:pt x="12410" y="30406"/>
                        <a:pt x="12412" y="30406"/>
                        <a:pt x="12414" y="30406"/>
                      </a:cubicBezTo>
                      <a:cubicBezTo>
                        <a:pt x="14155" y="30406"/>
                        <a:pt x="15565" y="31819"/>
                        <a:pt x="15565" y="33561"/>
                      </a:cubicBezTo>
                      <a:lnTo>
                        <a:pt x="15565" y="35495"/>
                      </a:lnTo>
                      <a:cubicBezTo>
                        <a:pt x="15559" y="35793"/>
                        <a:pt x="15798" y="36039"/>
                        <a:pt x="16096" y="36039"/>
                      </a:cubicBezTo>
                      <a:cubicBezTo>
                        <a:pt x="16394" y="36039"/>
                        <a:pt x="16636" y="35793"/>
                        <a:pt x="16627" y="35495"/>
                      </a:cubicBezTo>
                      <a:lnTo>
                        <a:pt x="16627" y="33561"/>
                      </a:lnTo>
                      <a:cubicBezTo>
                        <a:pt x="16627" y="31233"/>
                        <a:pt x="14740" y="29345"/>
                        <a:pt x="12414" y="29345"/>
                      </a:cubicBezTo>
                      <a:cubicBezTo>
                        <a:pt x="12412" y="29345"/>
                        <a:pt x="12410" y="29345"/>
                        <a:pt x="12408" y="29345"/>
                      </a:cubicBezTo>
                      <a:lnTo>
                        <a:pt x="12392" y="29345"/>
                      </a:lnTo>
                      <a:cubicBezTo>
                        <a:pt x="12202" y="29346"/>
                        <a:pt x="12014" y="29346"/>
                        <a:pt x="11828" y="29346"/>
                      </a:cubicBezTo>
                      <a:cubicBezTo>
                        <a:pt x="10369" y="29346"/>
                        <a:pt x="9008" y="29324"/>
                        <a:pt x="7772" y="29287"/>
                      </a:cubicBezTo>
                      <a:cubicBezTo>
                        <a:pt x="7513" y="29278"/>
                        <a:pt x="7267" y="29274"/>
                        <a:pt x="7033" y="29274"/>
                      </a:cubicBezTo>
                      <a:cubicBezTo>
                        <a:pt x="5050" y="29274"/>
                        <a:pt x="3893" y="29586"/>
                        <a:pt x="3135" y="30309"/>
                      </a:cubicBezTo>
                      <a:cubicBezTo>
                        <a:pt x="3058" y="30380"/>
                        <a:pt x="2987" y="30458"/>
                        <a:pt x="2922" y="30536"/>
                      </a:cubicBezTo>
                      <a:cubicBezTo>
                        <a:pt x="1045" y="29510"/>
                        <a:pt x="1084" y="26828"/>
                        <a:pt x="1084" y="26799"/>
                      </a:cubicBezTo>
                      <a:lnTo>
                        <a:pt x="1084" y="26786"/>
                      </a:lnTo>
                      <a:lnTo>
                        <a:pt x="1084" y="21470"/>
                      </a:lnTo>
                      <a:cubicBezTo>
                        <a:pt x="1084" y="19979"/>
                        <a:pt x="1450" y="18885"/>
                        <a:pt x="2168" y="18212"/>
                      </a:cubicBezTo>
                      <a:cubicBezTo>
                        <a:pt x="2905" y="17528"/>
                        <a:pt x="3830" y="17480"/>
                        <a:pt x="4078" y="17480"/>
                      </a:cubicBezTo>
                      <a:cubicBezTo>
                        <a:pt x="4118" y="17480"/>
                        <a:pt x="4141" y="17481"/>
                        <a:pt x="4142" y="17481"/>
                      </a:cubicBezTo>
                      <a:cubicBezTo>
                        <a:pt x="4157" y="17483"/>
                        <a:pt x="4172" y="17483"/>
                        <a:pt x="4186" y="17483"/>
                      </a:cubicBezTo>
                      <a:cubicBezTo>
                        <a:pt x="4474" y="17483"/>
                        <a:pt x="4714" y="17249"/>
                        <a:pt x="4714" y="16954"/>
                      </a:cubicBezTo>
                      <a:lnTo>
                        <a:pt x="4714" y="12072"/>
                      </a:lnTo>
                      <a:cubicBezTo>
                        <a:pt x="4714" y="11082"/>
                        <a:pt x="4986" y="10325"/>
                        <a:pt x="5523" y="9820"/>
                      </a:cubicBezTo>
                      <a:cubicBezTo>
                        <a:pt x="6270" y="9115"/>
                        <a:pt x="7348" y="9065"/>
                        <a:pt x="7647" y="9065"/>
                      </a:cubicBezTo>
                      <a:cubicBezTo>
                        <a:pt x="7696" y="9065"/>
                        <a:pt x="7724" y="9066"/>
                        <a:pt x="7726" y="9066"/>
                      </a:cubicBezTo>
                      <a:cubicBezTo>
                        <a:pt x="7739" y="9067"/>
                        <a:pt x="7751" y="9067"/>
                        <a:pt x="7763" y="9067"/>
                      </a:cubicBezTo>
                      <a:cubicBezTo>
                        <a:pt x="8253" y="9067"/>
                        <a:pt x="8483" y="8447"/>
                        <a:pt x="8095" y="8128"/>
                      </a:cubicBezTo>
                      <a:cubicBezTo>
                        <a:pt x="7911" y="7976"/>
                        <a:pt x="7749" y="7749"/>
                        <a:pt x="7937" y="7216"/>
                      </a:cubicBezTo>
                      <a:cubicBezTo>
                        <a:pt x="8312" y="6167"/>
                        <a:pt x="9878" y="4614"/>
                        <a:pt x="11929" y="3269"/>
                      </a:cubicBezTo>
                      <a:cubicBezTo>
                        <a:pt x="13967" y="1926"/>
                        <a:pt x="16044" y="1059"/>
                        <a:pt x="17225" y="1059"/>
                      </a:cubicBezTo>
                      <a:close/>
                      <a:moveTo>
                        <a:pt x="17222" y="1"/>
                      </a:moveTo>
                      <a:cubicBezTo>
                        <a:pt x="14145" y="1"/>
                        <a:pt x="7898" y="4168"/>
                        <a:pt x="6937" y="6863"/>
                      </a:cubicBezTo>
                      <a:cubicBezTo>
                        <a:pt x="6782" y="7300"/>
                        <a:pt x="6752" y="7711"/>
                        <a:pt x="6846" y="8076"/>
                      </a:cubicBezTo>
                      <a:cubicBezTo>
                        <a:pt x="6241" y="8180"/>
                        <a:pt x="5452" y="8435"/>
                        <a:pt x="4805" y="9040"/>
                      </a:cubicBezTo>
                      <a:cubicBezTo>
                        <a:pt x="4041" y="9755"/>
                        <a:pt x="3656" y="10778"/>
                        <a:pt x="3656" y="12075"/>
                      </a:cubicBezTo>
                      <a:lnTo>
                        <a:pt x="3656" y="16446"/>
                      </a:lnTo>
                      <a:cubicBezTo>
                        <a:pt x="3093" y="16511"/>
                        <a:pt x="2220" y="16727"/>
                        <a:pt x="1460" y="17426"/>
                      </a:cubicBezTo>
                      <a:cubicBezTo>
                        <a:pt x="508" y="18303"/>
                        <a:pt x="23" y="19665"/>
                        <a:pt x="23" y="21470"/>
                      </a:cubicBezTo>
                      <a:lnTo>
                        <a:pt x="23" y="26779"/>
                      </a:lnTo>
                      <a:cubicBezTo>
                        <a:pt x="20" y="27006"/>
                        <a:pt x="0" y="30147"/>
                        <a:pt x="2388" y="31454"/>
                      </a:cubicBezTo>
                      <a:cubicBezTo>
                        <a:pt x="2136" y="32118"/>
                        <a:pt x="2006" y="32975"/>
                        <a:pt x="1984" y="34107"/>
                      </a:cubicBezTo>
                      <a:cubicBezTo>
                        <a:pt x="1922" y="37288"/>
                        <a:pt x="4352" y="38614"/>
                        <a:pt x="5254" y="38996"/>
                      </a:cubicBezTo>
                      <a:cubicBezTo>
                        <a:pt x="5533" y="40711"/>
                        <a:pt x="6429" y="42273"/>
                        <a:pt x="7797" y="43428"/>
                      </a:cubicBezTo>
                      <a:cubicBezTo>
                        <a:pt x="9405" y="44784"/>
                        <a:pt x="11560" y="45502"/>
                        <a:pt x="14035" y="45502"/>
                      </a:cubicBezTo>
                      <a:cubicBezTo>
                        <a:pt x="19270" y="45502"/>
                        <a:pt x="21065" y="43292"/>
                        <a:pt x="21140" y="43199"/>
                      </a:cubicBezTo>
                      <a:cubicBezTo>
                        <a:pt x="21214" y="43105"/>
                        <a:pt x="21253" y="42992"/>
                        <a:pt x="21253" y="42872"/>
                      </a:cubicBezTo>
                      <a:lnTo>
                        <a:pt x="21253" y="4967"/>
                      </a:lnTo>
                      <a:cubicBezTo>
                        <a:pt x="21217" y="3249"/>
                        <a:pt x="20328" y="1"/>
                        <a:pt x="1722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" name="Google Shape;9284;p74">
                  <a:extLst>
                    <a:ext uri="{FF2B5EF4-FFF2-40B4-BE49-F238E27FC236}">
                      <a16:creationId xmlns:a16="http://schemas.microsoft.com/office/drawing/2014/main" id="{0AEB0A9E-2711-84AC-E7F8-BF4ADF41826B}"/>
                    </a:ext>
                  </a:extLst>
                </p:cNvPr>
                <p:cNvSpPr/>
                <p:nvPr/>
              </p:nvSpPr>
              <p:spPr>
                <a:xfrm>
                  <a:off x="9535402" y="2540968"/>
                  <a:ext cx="161778" cy="68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00" h="5029" extrusionOk="0">
                      <a:moveTo>
                        <a:pt x="11270" y="1"/>
                      </a:moveTo>
                      <a:cubicBezTo>
                        <a:pt x="11264" y="1"/>
                        <a:pt x="11258" y="1"/>
                        <a:pt x="11252" y="1"/>
                      </a:cubicBezTo>
                      <a:lnTo>
                        <a:pt x="4326" y="1"/>
                      </a:lnTo>
                      <a:cubicBezTo>
                        <a:pt x="1938" y="4"/>
                        <a:pt x="0" y="1939"/>
                        <a:pt x="0" y="4327"/>
                      </a:cubicBezTo>
                      <a:lnTo>
                        <a:pt x="0" y="4498"/>
                      </a:lnTo>
                      <a:cubicBezTo>
                        <a:pt x="0" y="4789"/>
                        <a:pt x="236" y="5029"/>
                        <a:pt x="527" y="5029"/>
                      </a:cubicBezTo>
                      <a:cubicBezTo>
                        <a:pt x="822" y="5029"/>
                        <a:pt x="1061" y="4789"/>
                        <a:pt x="1058" y="4498"/>
                      </a:cubicBezTo>
                      <a:lnTo>
                        <a:pt x="1058" y="4327"/>
                      </a:lnTo>
                      <a:cubicBezTo>
                        <a:pt x="1061" y="2524"/>
                        <a:pt x="2524" y="1062"/>
                        <a:pt x="4326" y="1062"/>
                      </a:cubicBezTo>
                      <a:lnTo>
                        <a:pt x="11252" y="1062"/>
                      </a:lnTo>
                      <a:cubicBezTo>
                        <a:pt x="11256" y="1062"/>
                        <a:pt x="11260" y="1062"/>
                        <a:pt x="11264" y="1062"/>
                      </a:cubicBezTo>
                      <a:cubicBezTo>
                        <a:pt x="11557" y="1062"/>
                        <a:pt x="11799" y="825"/>
                        <a:pt x="11799" y="532"/>
                      </a:cubicBezTo>
                      <a:cubicBezTo>
                        <a:pt x="11799" y="237"/>
                        <a:pt x="11560" y="1"/>
                        <a:pt x="1127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" name="Google Shape;9285;p74">
                  <a:extLst>
                    <a:ext uri="{FF2B5EF4-FFF2-40B4-BE49-F238E27FC236}">
                      <a16:creationId xmlns:a16="http://schemas.microsoft.com/office/drawing/2014/main" id="{836FD44B-859E-736C-7227-605393C090B8}"/>
                    </a:ext>
                  </a:extLst>
                </p:cNvPr>
                <p:cNvSpPr/>
                <p:nvPr/>
              </p:nvSpPr>
              <p:spPr>
                <a:xfrm>
                  <a:off x="9455875" y="2286606"/>
                  <a:ext cx="137251" cy="112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11" h="8180" extrusionOk="0">
                      <a:moveTo>
                        <a:pt x="515" y="1"/>
                      </a:moveTo>
                      <a:cubicBezTo>
                        <a:pt x="230" y="7"/>
                        <a:pt x="0" y="243"/>
                        <a:pt x="0" y="531"/>
                      </a:cubicBezTo>
                      <a:cubicBezTo>
                        <a:pt x="0" y="819"/>
                        <a:pt x="230" y="1052"/>
                        <a:pt x="515" y="1062"/>
                      </a:cubicBezTo>
                      <a:lnTo>
                        <a:pt x="4979" y="1062"/>
                      </a:lnTo>
                      <a:cubicBezTo>
                        <a:pt x="7173" y="1062"/>
                        <a:pt x="8946" y="2838"/>
                        <a:pt x="8949" y="5031"/>
                      </a:cubicBezTo>
                      <a:lnTo>
                        <a:pt x="8949" y="7649"/>
                      </a:lnTo>
                      <a:cubicBezTo>
                        <a:pt x="8949" y="7943"/>
                        <a:pt x="9188" y="8179"/>
                        <a:pt x="9480" y="8179"/>
                      </a:cubicBezTo>
                      <a:cubicBezTo>
                        <a:pt x="9771" y="8179"/>
                        <a:pt x="10010" y="7943"/>
                        <a:pt x="10010" y="7652"/>
                      </a:cubicBezTo>
                      <a:lnTo>
                        <a:pt x="10010" y="5031"/>
                      </a:lnTo>
                      <a:cubicBezTo>
                        <a:pt x="10007" y="2252"/>
                        <a:pt x="7758" y="4"/>
                        <a:pt x="497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" name="Google Shape;9286;p74">
                  <a:extLst>
                    <a:ext uri="{FF2B5EF4-FFF2-40B4-BE49-F238E27FC236}">
                      <a16:creationId xmlns:a16="http://schemas.microsoft.com/office/drawing/2014/main" id="{04FA67E4-1FD2-6FFB-D0F3-E65B609E20F2}"/>
                    </a:ext>
                  </a:extLst>
                </p:cNvPr>
                <p:cNvSpPr/>
                <p:nvPr/>
              </p:nvSpPr>
              <p:spPr>
                <a:xfrm>
                  <a:off x="9578545" y="2355317"/>
                  <a:ext cx="116370" cy="14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88" h="1062" extrusionOk="0">
                      <a:moveTo>
                        <a:pt x="519" y="0"/>
                      </a:moveTo>
                      <a:cubicBezTo>
                        <a:pt x="231" y="10"/>
                        <a:pt x="1" y="243"/>
                        <a:pt x="1" y="531"/>
                      </a:cubicBezTo>
                      <a:cubicBezTo>
                        <a:pt x="1" y="819"/>
                        <a:pt x="231" y="1051"/>
                        <a:pt x="519" y="1061"/>
                      </a:cubicBezTo>
                      <a:lnTo>
                        <a:pt x="7973" y="1061"/>
                      </a:lnTo>
                      <a:cubicBezTo>
                        <a:pt x="8261" y="1051"/>
                        <a:pt x="8487" y="819"/>
                        <a:pt x="8487" y="531"/>
                      </a:cubicBezTo>
                      <a:cubicBezTo>
                        <a:pt x="8487" y="243"/>
                        <a:pt x="8261" y="10"/>
                        <a:pt x="797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" name="Google Shape;9287;p74">
                  <a:extLst>
                    <a:ext uri="{FF2B5EF4-FFF2-40B4-BE49-F238E27FC236}">
                      <a16:creationId xmlns:a16="http://schemas.microsoft.com/office/drawing/2014/main" id="{08318345-BC03-03BD-F7D5-3395B14194B2}"/>
                    </a:ext>
                  </a:extLst>
                </p:cNvPr>
                <p:cNvSpPr/>
                <p:nvPr/>
              </p:nvSpPr>
              <p:spPr>
                <a:xfrm>
                  <a:off x="9533620" y="2389824"/>
                  <a:ext cx="104429" cy="58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7" h="4248" extrusionOk="0">
                      <a:moveTo>
                        <a:pt x="2890" y="0"/>
                      </a:moveTo>
                      <a:cubicBezTo>
                        <a:pt x="1295" y="0"/>
                        <a:pt x="4" y="1294"/>
                        <a:pt x="1" y="2889"/>
                      </a:cubicBezTo>
                      <a:lnTo>
                        <a:pt x="1" y="3439"/>
                      </a:lnTo>
                      <a:cubicBezTo>
                        <a:pt x="10" y="3724"/>
                        <a:pt x="243" y="3954"/>
                        <a:pt x="531" y="3954"/>
                      </a:cubicBezTo>
                      <a:cubicBezTo>
                        <a:pt x="819" y="3954"/>
                        <a:pt x="1055" y="3724"/>
                        <a:pt x="1062" y="3439"/>
                      </a:cubicBezTo>
                      <a:lnTo>
                        <a:pt x="1062" y="2889"/>
                      </a:lnTo>
                      <a:cubicBezTo>
                        <a:pt x="1062" y="1880"/>
                        <a:pt x="1880" y="1061"/>
                        <a:pt x="2890" y="1058"/>
                      </a:cubicBezTo>
                      <a:lnTo>
                        <a:pt x="4669" y="1058"/>
                      </a:lnTo>
                      <a:cubicBezTo>
                        <a:pt x="5711" y="1061"/>
                        <a:pt x="6555" y="1902"/>
                        <a:pt x="6555" y="2944"/>
                      </a:cubicBezTo>
                      <a:lnTo>
                        <a:pt x="6555" y="3717"/>
                      </a:lnTo>
                      <a:cubicBezTo>
                        <a:pt x="6555" y="4012"/>
                        <a:pt x="6795" y="4248"/>
                        <a:pt x="7086" y="4248"/>
                      </a:cubicBezTo>
                      <a:cubicBezTo>
                        <a:pt x="7380" y="4248"/>
                        <a:pt x="7617" y="4012"/>
                        <a:pt x="7617" y="3717"/>
                      </a:cubicBezTo>
                      <a:lnTo>
                        <a:pt x="7617" y="2944"/>
                      </a:lnTo>
                      <a:cubicBezTo>
                        <a:pt x="7613" y="1320"/>
                        <a:pt x="6297" y="0"/>
                        <a:pt x="466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" name="Google Shape;9288;p74">
                  <a:extLst>
                    <a:ext uri="{FF2B5EF4-FFF2-40B4-BE49-F238E27FC236}">
                      <a16:creationId xmlns:a16="http://schemas.microsoft.com/office/drawing/2014/main" id="{01A0FF05-88B2-C00C-DF67-7296DB6A3867}"/>
                    </a:ext>
                  </a:extLst>
                </p:cNvPr>
                <p:cNvSpPr/>
                <p:nvPr/>
              </p:nvSpPr>
              <p:spPr>
                <a:xfrm>
                  <a:off x="9504885" y="2171202"/>
                  <a:ext cx="97684" cy="145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25" h="1059" extrusionOk="0">
                      <a:moveTo>
                        <a:pt x="6598" y="0"/>
                      </a:moveTo>
                      <a:cubicBezTo>
                        <a:pt x="6592" y="0"/>
                        <a:pt x="6587" y="0"/>
                        <a:pt x="6581" y="0"/>
                      </a:cubicBezTo>
                      <a:lnTo>
                        <a:pt x="515" y="0"/>
                      </a:lnTo>
                      <a:cubicBezTo>
                        <a:pt x="227" y="7"/>
                        <a:pt x="0" y="243"/>
                        <a:pt x="0" y="528"/>
                      </a:cubicBezTo>
                      <a:cubicBezTo>
                        <a:pt x="0" y="816"/>
                        <a:pt x="227" y="1052"/>
                        <a:pt x="515" y="1058"/>
                      </a:cubicBezTo>
                      <a:lnTo>
                        <a:pt x="6581" y="1058"/>
                      </a:lnTo>
                      <a:cubicBezTo>
                        <a:pt x="6587" y="1058"/>
                        <a:pt x="6592" y="1059"/>
                        <a:pt x="6598" y="1059"/>
                      </a:cubicBezTo>
                      <a:cubicBezTo>
                        <a:pt x="6888" y="1059"/>
                        <a:pt x="7124" y="823"/>
                        <a:pt x="7124" y="528"/>
                      </a:cubicBezTo>
                      <a:cubicBezTo>
                        <a:pt x="7124" y="236"/>
                        <a:pt x="6888" y="0"/>
                        <a:pt x="659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" name="Google Shape;9289;p74">
                  <a:extLst>
                    <a:ext uri="{FF2B5EF4-FFF2-40B4-BE49-F238E27FC236}">
                      <a16:creationId xmlns:a16="http://schemas.microsoft.com/office/drawing/2014/main" id="{4055C3C5-6343-A511-3B5F-5869FEAD5932}"/>
                    </a:ext>
                  </a:extLst>
                </p:cNvPr>
                <p:cNvSpPr/>
                <p:nvPr/>
              </p:nvSpPr>
              <p:spPr>
                <a:xfrm>
                  <a:off x="9587826" y="2129731"/>
                  <a:ext cx="106993" cy="974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04" h="7109" extrusionOk="0">
                      <a:moveTo>
                        <a:pt x="4230" y="0"/>
                      </a:moveTo>
                      <a:cubicBezTo>
                        <a:pt x="4224" y="0"/>
                        <a:pt x="4218" y="0"/>
                        <a:pt x="4213" y="0"/>
                      </a:cubicBezTo>
                      <a:lnTo>
                        <a:pt x="3339" y="0"/>
                      </a:lnTo>
                      <a:cubicBezTo>
                        <a:pt x="1495" y="0"/>
                        <a:pt x="3" y="1495"/>
                        <a:pt x="0" y="3336"/>
                      </a:cubicBezTo>
                      <a:lnTo>
                        <a:pt x="0" y="3850"/>
                      </a:lnTo>
                      <a:cubicBezTo>
                        <a:pt x="3" y="5649"/>
                        <a:pt x="1459" y="7108"/>
                        <a:pt x="3258" y="7108"/>
                      </a:cubicBezTo>
                      <a:lnTo>
                        <a:pt x="7286" y="7108"/>
                      </a:lnTo>
                      <a:cubicBezTo>
                        <a:pt x="7574" y="7102"/>
                        <a:pt x="7804" y="6866"/>
                        <a:pt x="7804" y="6578"/>
                      </a:cubicBezTo>
                      <a:cubicBezTo>
                        <a:pt x="7804" y="6290"/>
                        <a:pt x="7574" y="6057"/>
                        <a:pt x="7286" y="6047"/>
                      </a:cubicBezTo>
                      <a:lnTo>
                        <a:pt x="3258" y="6047"/>
                      </a:lnTo>
                      <a:cubicBezTo>
                        <a:pt x="2045" y="6047"/>
                        <a:pt x="1061" y="5064"/>
                        <a:pt x="1061" y="3850"/>
                      </a:cubicBezTo>
                      <a:lnTo>
                        <a:pt x="1061" y="3336"/>
                      </a:lnTo>
                      <a:cubicBezTo>
                        <a:pt x="1061" y="2081"/>
                        <a:pt x="2080" y="1061"/>
                        <a:pt x="3339" y="1058"/>
                      </a:cubicBezTo>
                      <a:lnTo>
                        <a:pt x="4213" y="1058"/>
                      </a:lnTo>
                      <a:cubicBezTo>
                        <a:pt x="4218" y="1058"/>
                        <a:pt x="4224" y="1059"/>
                        <a:pt x="4230" y="1059"/>
                      </a:cubicBezTo>
                      <a:cubicBezTo>
                        <a:pt x="4520" y="1059"/>
                        <a:pt x="4756" y="823"/>
                        <a:pt x="4756" y="528"/>
                      </a:cubicBezTo>
                      <a:cubicBezTo>
                        <a:pt x="4756" y="236"/>
                        <a:pt x="4520" y="0"/>
                        <a:pt x="423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" name="Google Shape;9290;p74">
                <a:extLst>
                  <a:ext uri="{FF2B5EF4-FFF2-40B4-BE49-F238E27FC236}">
                    <a16:creationId xmlns:a16="http://schemas.microsoft.com/office/drawing/2014/main" id="{F9574B4D-D5D8-532E-1774-5F1FD7364421}"/>
                  </a:ext>
                </a:extLst>
              </p:cNvPr>
              <p:cNvGrpSpPr/>
              <p:nvPr/>
            </p:nvGrpSpPr>
            <p:grpSpPr>
              <a:xfrm flipH="1">
                <a:off x="8029157" y="2093194"/>
                <a:ext cx="291607" cy="623846"/>
                <a:chOff x="9405573" y="2061418"/>
                <a:chExt cx="291607" cy="623846"/>
              </a:xfrm>
              <a:grpFill/>
            </p:grpSpPr>
            <p:sp>
              <p:nvSpPr>
                <p:cNvPr id="12" name="Google Shape;9291;p74">
                  <a:extLst>
                    <a:ext uri="{FF2B5EF4-FFF2-40B4-BE49-F238E27FC236}">
                      <a16:creationId xmlns:a16="http://schemas.microsoft.com/office/drawing/2014/main" id="{DD09BB74-FADD-4112-17B2-50D3CF47E591}"/>
                    </a:ext>
                  </a:extLst>
                </p:cNvPr>
                <p:cNvSpPr/>
                <p:nvPr/>
              </p:nvSpPr>
              <p:spPr>
                <a:xfrm>
                  <a:off x="9405573" y="2061418"/>
                  <a:ext cx="291379" cy="623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3" h="45503" extrusionOk="0">
                      <a:moveTo>
                        <a:pt x="17225" y="1059"/>
                      </a:moveTo>
                      <a:cubicBezTo>
                        <a:pt x="20066" y="1059"/>
                        <a:pt x="20192" y="4831"/>
                        <a:pt x="20195" y="4980"/>
                      </a:cubicBezTo>
                      <a:lnTo>
                        <a:pt x="20195" y="42658"/>
                      </a:lnTo>
                      <a:cubicBezTo>
                        <a:pt x="19755" y="43076"/>
                        <a:pt x="18011" y="44441"/>
                        <a:pt x="14035" y="44441"/>
                      </a:cubicBezTo>
                      <a:cubicBezTo>
                        <a:pt x="9143" y="44441"/>
                        <a:pt x="6607" y="41481"/>
                        <a:pt x="6264" y="38549"/>
                      </a:cubicBezTo>
                      <a:cubicBezTo>
                        <a:pt x="6238" y="38342"/>
                        <a:pt x="6089" y="38168"/>
                        <a:pt x="5889" y="38106"/>
                      </a:cubicBezTo>
                      <a:cubicBezTo>
                        <a:pt x="5769" y="38071"/>
                        <a:pt x="2987" y="37194"/>
                        <a:pt x="3045" y="34127"/>
                      </a:cubicBezTo>
                      <a:cubicBezTo>
                        <a:pt x="3067" y="32998"/>
                        <a:pt x="3194" y="32212"/>
                        <a:pt x="3449" y="31665"/>
                      </a:cubicBezTo>
                      <a:cubicBezTo>
                        <a:pt x="3449" y="31665"/>
                        <a:pt x="3682" y="31319"/>
                        <a:pt x="3685" y="31277"/>
                      </a:cubicBezTo>
                      <a:cubicBezTo>
                        <a:pt x="3740" y="31205"/>
                        <a:pt x="3799" y="31141"/>
                        <a:pt x="3863" y="31082"/>
                      </a:cubicBezTo>
                      <a:cubicBezTo>
                        <a:pt x="4404" y="30567"/>
                        <a:pt x="5365" y="30335"/>
                        <a:pt x="7020" y="30335"/>
                      </a:cubicBezTo>
                      <a:cubicBezTo>
                        <a:pt x="7247" y="30335"/>
                        <a:pt x="7486" y="30339"/>
                        <a:pt x="7739" y="30348"/>
                      </a:cubicBezTo>
                      <a:cubicBezTo>
                        <a:pt x="8968" y="30388"/>
                        <a:pt x="10320" y="30407"/>
                        <a:pt x="11768" y="30407"/>
                      </a:cubicBezTo>
                      <a:cubicBezTo>
                        <a:pt x="11975" y="30407"/>
                        <a:pt x="12184" y="30407"/>
                        <a:pt x="12395" y="30406"/>
                      </a:cubicBezTo>
                      <a:lnTo>
                        <a:pt x="12408" y="30406"/>
                      </a:lnTo>
                      <a:cubicBezTo>
                        <a:pt x="12410" y="30406"/>
                        <a:pt x="12412" y="30406"/>
                        <a:pt x="12414" y="30406"/>
                      </a:cubicBezTo>
                      <a:cubicBezTo>
                        <a:pt x="14155" y="30406"/>
                        <a:pt x="15565" y="31819"/>
                        <a:pt x="15565" y="33561"/>
                      </a:cubicBezTo>
                      <a:lnTo>
                        <a:pt x="15565" y="35495"/>
                      </a:lnTo>
                      <a:cubicBezTo>
                        <a:pt x="15559" y="35793"/>
                        <a:pt x="15798" y="36039"/>
                        <a:pt x="16096" y="36039"/>
                      </a:cubicBezTo>
                      <a:cubicBezTo>
                        <a:pt x="16394" y="36039"/>
                        <a:pt x="16636" y="35793"/>
                        <a:pt x="16627" y="35495"/>
                      </a:cubicBezTo>
                      <a:lnTo>
                        <a:pt x="16627" y="33561"/>
                      </a:lnTo>
                      <a:cubicBezTo>
                        <a:pt x="16627" y="31233"/>
                        <a:pt x="14740" y="29345"/>
                        <a:pt x="12414" y="29345"/>
                      </a:cubicBezTo>
                      <a:cubicBezTo>
                        <a:pt x="12412" y="29345"/>
                        <a:pt x="12410" y="29345"/>
                        <a:pt x="12408" y="29345"/>
                      </a:cubicBezTo>
                      <a:lnTo>
                        <a:pt x="12392" y="29345"/>
                      </a:lnTo>
                      <a:cubicBezTo>
                        <a:pt x="12202" y="29346"/>
                        <a:pt x="12014" y="29346"/>
                        <a:pt x="11828" y="29346"/>
                      </a:cubicBezTo>
                      <a:cubicBezTo>
                        <a:pt x="10369" y="29346"/>
                        <a:pt x="9008" y="29324"/>
                        <a:pt x="7772" y="29287"/>
                      </a:cubicBezTo>
                      <a:cubicBezTo>
                        <a:pt x="7513" y="29278"/>
                        <a:pt x="7267" y="29274"/>
                        <a:pt x="7033" y="29274"/>
                      </a:cubicBezTo>
                      <a:cubicBezTo>
                        <a:pt x="5050" y="29274"/>
                        <a:pt x="3893" y="29586"/>
                        <a:pt x="3135" y="30309"/>
                      </a:cubicBezTo>
                      <a:cubicBezTo>
                        <a:pt x="3058" y="30380"/>
                        <a:pt x="2987" y="30458"/>
                        <a:pt x="2922" y="30536"/>
                      </a:cubicBezTo>
                      <a:cubicBezTo>
                        <a:pt x="1045" y="29510"/>
                        <a:pt x="1084" y="26828"/>
                        <a:pt x="1084" y="26799"/>
                      </a:cubicBezTo>
                      <a:lnTo>
                        <a:pt x="1084" y="26786"/>
                      </a:lnTo>
                      <a:lnTo>
                        <a:pt x="1084" y="21470"/>
                      </a:lnTo>
                      <a:cubicBezTo>
                        <a:pt x="1084" y="19979"/>
                        <a:pt x="1450" y="18885"/>
                        <a:pt x="2168" y="18212"/>
                      </a:cubicBezTo>
                      <a:cubicBezTo>
                        <a:pt x="2905" y="17528"/>
                        <a:pt x="3830" y="17480"/>
                        <a:pt x="4078" y="17480"/>
                      </a:cubicBezTo>
                      <a:cubicBezTo>
                        <a:pt x="4118" y="17480"/>
                        <a:pt x="4141" y="17481"/>
                        <a:pt x="4142" y="17481"/>
                      </a:cubicBezTo>
                      <a:cubicBezTo>
                        <a:pt x="4157" y="17483"/>
                        <a:pt x="4172" y="17483"/>
                        <a:pt x="4186" y="17483"/>
                      </a:cubicBezTo>
                      <a:cubicBezTo>
                        <a:pt x="4474" y="17483"/>
                        <a:pt x="4714" y="17249"/>
                        <a:pt x="4714" y="16954"/>
                      </a:cubicBezTo>
                      <a:lnTo>
                        <a:pt x="4714" y="12072"/>
                      </a:lnTo>
                      <a:cubicBezTo>
                        <a:pt x="4714" y="11082"/>
                        <a:pt x="4986" y="10325"/>
                        <a:pt x="5523" y="9820"/>
                      </a:cubicBezTo>
                      <a:cubicBezTo>
                        <a:pt x="6270" y="9115"/>
                        <a:pt x="7348" y="9065"/>
                        <a:pt x="7647" y="9065"/>
                      </a:cubicBezTo>
                      <a:cubicBezTo>
                        <a:pt x="7696" y="9065"/>
                        <a:pt x="7724" y="9066"/>
                        <a:pt x="7726" y="9066"/>
                      </a:cubicBezTo>
                      <a:cubicBezTo>
                        <a:pt x="7739" y="9067"/>
                        <a:pt x="7751" y="9067"/>
                        <a:pt x="7763" y="9067"/>
                      </a:cubicBezTo>
                      <a:cubicBezTo>
                        <a:pt x="8253" y="9067"/>
                        <a:pt x="8483" y="8447"/>
                        <a:pt x="8095" y="8128"/>
                      </a:cubicBezTo>
                      <a:cubicBezTo>
                        <a:pt x="7911" y="7976"/>
                        <a:pt x="7749" y="7749"/>
                        <a:pt x="7937" y="7216"/>
                      </a:cubicBezTo>
                      <a:cubicBezTo>
                        <a:pt x="8312" y="6167"/>
                        <a:pt x="9878" y="4614"/>
                        <a:pt x="11929" y="3269"/>
                      </a:cubicBezTo>
                      <a:cubicBezTo>
                        <a:pt x="13967" y="1926"/>
                        <a:pt x="16044" y="1059"/>
                        <a:pt x="17225" y="1059"/>
                      </a:cubicBezTo>
                      <a:close/>
                      <a:moveTo>
                        <a:pt x="17222" y="1"/>
                      </a:moveTo>
                      <a:cubicBezTo>
                        <a:pt x="14145" y="1"/>
                        <a:pt x="7898" y="4168"/>
                        <a:pt x="6937" y="6863"/>
                      </a:cubicBezTo>
                      <a:cubicBezTo>
                        <a:pt x="6782" y="7300"/>
                        <a:pt x="6752" y="7711"/>
                        <a:pt x="6846" y="8076"/>
                      </a:cubicBezTo>
                      <a:cubicBezTo>
                        <a:pt x="6241" y="8180"/>
                        <a:pt x="5452" y="8435"/>
                        <a:pt x="4805" y="9040"/>
                      </a:cubicBezTo>
                      <a:cubicBezTo>
                        <a:pt x="4041" y="9755"/>
                        <a:pt x="3656" y="10778"/>
                        <a:pt x="3656" y="12075"/>
                      </a:cubicBezTo>
                      <a:lnTo>
                        <a:pt x="3656" y="16446"/>
                      </a:lnTo>
                      <a:cubicBezTo>
                        <a:pt x="3093" y="16511"/>
                        <a:pt x="2220" y="16727"/>
                        <a:pt x="1460" y="17426"/>
                      </a:cubicBezTo>
                      <a:cubicBezTo>
                        <a:pt x="508" y="18303"/>
                        <a:pt x="23" y="19665"/>
                        <a:pt x="23" y="21470"/>
                      </a:cubicBezTo>
                      <a:lnTo>
                        <a:pt x="23" y="26779"/>
                      </a:lnTo>
                      <a:cubicBezTo>
                        <a:pt x="20" y="27006"/>
                        <a:pt x="0" y="30147"/>
                        <a:pt x="2388" y="31454"/>
                      </a:cubicBezTo>
                      <a:cubicBezTo>
                        <a:pt x="2136" y="32118"/>
                        <a:pt x="2006" y="32975"/>
                        <a:pt x="1984" y="34107"/>
                      </a:cubicBezTo>
                      <a:cubicBezTo>
                        <a:pt x="1922" y="37288"/>
                        <a:pt x="4352" y="38614"/>
                        <a:pt x="5254" y="38996"/>
                      </a:cubicBezTo>
                      <a:cubicBezTo>
                        <a:pt x="5533" y="40711"/>
                        <a:pt x="6429" y="42273"/>
                        <a:pt x="7797" y="43428"/>
                      </a:cubicBezTo>
                      <a:cubicBezTo>
                        <a:pt x="9405" y="44784"/>
                        <a:pt x="11560" y="45502"/>
                        <a:pt x="14035" y="45502"/>
                      </a:cubicBezTo>
                      <a:cubicBezTo>
                        <a:pt x="19270" y="45502"/>
                        <a:pt x="21065" y="43292"/>
                        <a:pt x="21140" y="43199"/>
                      </a:cubicBezTo>
                      <a:cubicBezTo>
                        <a:pt x="21214" y="43105"/>
                        <a:pt x="21253" y="42992"/>
                        <a:pt x="21253" y="42872"/>
                      </a:cubicBezTo>
                      <a:lnTo>
                        <a:pt x="21253" y="4967"/>
                      </a:lnTo>
                      <a:cubicBezTo>
                        <a:pt x="21217" y="3249"/>
                        <a:pt x="20328" y="1"/>
                        <a:pt x="1722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" name="Google Shape;9292;p74">
                  <a:extLst>
                    <a:ext uri="{FF2B5EF4-FFF2-40B4-BE49-F238E27FC236}">
                      <a16:creationId xmlns:a16="http://schemas.microsoft.com/office/drawing/2014/main" id="{94E95A06-F3AF-385C-56F8-DC0A1749E1A6}"/>
                    </a:ext>
                  </a:extLst>
                </p:cNvPr>
                <p:cNvSpPr/>
                <p:nvPr/>
              </p:nvSpPr>
              <p:spPr>
                <a:xfrm>
                  <a:off x="9535402" y="2540968"/>
                  <a:ext cx="161778" cy="68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00" h="5029" extrusionOk="0">
                      <a:moveTo>
                        <a:pt x="11270" y="1"/>
                      </a:moveTo>
                      <a:cubicBezTo>
                        <a:pt x="11264" y="1"/>
                        <a:pt x="11258" y="1"/>
                        <a:pt x="11252" y="1"/>
                      </a:cubicBezTo>
                      <a:lnTo>
                        <a:pt x="4326" y="1"/>
                      </a:lnTo>
                      <a:cubicBezTo>
                        <a:pt x="1938" y="4"/>
                        <a:pt x="0" y="1939"/>
                        <a:pt x="0" y="4327"/>
                      </a:cubicBezTo>
                      <a:lnTo>
                        <a:pt x="0" y="4498"/>
                      </a:lnTo>
                      <a:cubicBezTo>
                        <a:pt x="0" y="4789"/>
                        <a:pt x="236" y="5029"/>
                        <a:pt x="527" y="5029"/>
                      </a:cubicBezTo>
                      <a:cubicBezTo>
                        <a:pt x="822" y="5029"/>
                        <a:pt x="1061" y="4789"/>
                        <a:pt x="1058" y="4498"/>
                      </a:cubicBezTo>
                      <a:lnTo>
                        <a:pt x="1058" y="4327"/>
                      </a:lnTo>
                      <a:cubicBezTo>
                        <a:pt x="1061" y="2524"/>
                        <a:pt x="2524" y="1062"/>
                        <a:pt x="4326" y="1062"/>
                      </a:cubicBezTo>
                      <a:lnTo>
                        <a:pt x="11252" y="1062"/>
                      </a:lnTo>
                      <a:cubicBezTo>
                        <a:pt x="11256" y="1062"/>
                        <a:pt x="11260" y="1062"/>
                        <a:pt x="11264" y="1062"/>
                      </a:cubicBezTo>
                      <a:cubicBezTo>
                        <a:pt x="11557" y="1062"/>
                        <a:pt x="11799" y="825"/>
                        <a:pt x="11799" y="532"/>
                      </a:cubicBezTo>
                      <a:cubicBezTo>
                        <a:pt x="11799" y="237"/>
                        <a:pt x="11560" y="1"/>
                        <a:pt x="1127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" name="Google Shape;9293;p74">
                  <a:extLst>
                    <a:ext uri="{FF2B5EF4-FFF2-40B4-BE49-F238E27FC236}">
                      <a16:creationId xmlns:a16="http://schemas.microsoft.com/office/drawing/2014/main" id="{9C62135E-410B-7BD3-F33E-C5501DA582F3}"/>
                    </a:ext>
                  </a:extLst>
                </p:cNvPr>
                <p:cNvSpPr/>
                <p:nvPr/>
              </p:nvSpPr>
              <p:spPr>
                <a:xfrm>
                  <a:off x="9455875" y="2286606"/>
                  <a:ext cx="137251" cy="112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11" h="8180" extrusionOk="0">
                      <a:moveTo>
                        <a:pt x="515" y="1"/>
                      </a:moveTo>
                      <a:cubicBezTo>
                        <a:pt x="230" y="7"/>
                        <a:pt x="0" y="243"/>
                        <a:pt x="0" y="531"/>
                      </a:cubicBezTo>
                      <a:cubicBezTo>
                        <a:pt x="0" y="819"/>
                        <a:pt x="230" y="1052"/>
                        <a:pt x="515" y="1062"/>
                      </a:cubicBezTo>
                      <a:lnTo>
                        <a:pt x="4979" y="1062"/>
                      </a:lnTo>
                      <a:cubicBezTo>
                        <a:pt x="7173" y="1062"/>
                        <a:pt x="8946" y="2838"/>
                        <a:pt x="8949" y="5031"/>
                      </a:cubicBezTo>
                      <a:lnTo>
                        <a:pt x="8949" y="7649"/>
                      </a:lnTo>
                      <a:cubicBezTo>
                        <a:pt x="8949" y="7943"/>
                        <a:pt x="9188" y="8179"/>
                        <a:pt x="9480" y="8179"/>
                      </a:cubicBezTo>
                      <a:cubicBezTo>
                        <a:pt x="9771" y="8179"/>
                        <a:pt x="10010" y="7943"/>
                        <a:pt x="10010" y="7652"/>
                      </a:cubicBezTo>
                      <a:lnTo>
                        <a:pt x="10010" y="5031"/>
                      </a:lnTo>
                      <a:cubicBezTo>
                        <a:pt x="10007" y="2252"/>
                        <a:pt x="7758" y="4"/>
                        <a:pt x="497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" name="Google Shape;9294;p74">
                  <a:extLst>
                    <a:ext uri="{FF2B5EF4-FFF2-40B4-BE49-F238E27FC236}">
                      <a16:creationId xmlns:a16="http://schemas.microsoft.com/office/drawing/2014/main" id="{EEF98A59-CD9F-B1FD-71BA-E4969C5F975D}"/>
                    </a:ext>
                  </a:extLst>
                </p:cNvPr>
                <p:cNvSpPr/>
                <p:nvPr/>
              </p:nvSpPr>
              <p:spPr>
                <a:xfrm>
                  <a:off x="9578545" y="2355317"/>
                  <a:ext cx="116370" cy="14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88" h="1062" extrusionOk="0">
                      <a:moveTo>
                        <a:pt x="519" y="0"/>
                      </a:moveTo>
                      <a:cubicBezTo>
                        <a:pt x="231" y="10"/>
                        <a:pt x="1" y="243"/>
                        <a:pt x="1" y="531"/>
                      </a:cubicBezTo>
                      <a:cubicBezTo>
                        <a:pt x="1" y="819"/>
                        <a:pt x="231" y="1051"/>
                        <a:pt x="519" y="1061"/>
                      </a:cubicBezTo>
                      <a:lnTo>
                        <a:pt x="7973" y="1061"/>
                      </a:lnTo>
                      <a:cubicBezTo>
                        <a:pt x="8261" y="1051"/>
                        <a:pt x="8487" y="819"/>
                        <a:pt x="8487" y="531"/>
                      </a:cubicBezTo>
                      <a:cubicBezTo>
                        <a:pt x="8487" y="243"/>
                        <a:pt x="8261" y="10"/>
                        <a:pt x="797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6" name="Google Shape;9295;p74">
                  <a:extLst>
                    <a:ext uri="{FF2B5EF4-FFF2-40B4-BE49-F238E27FC236}">
                      <a16:creationId xmlns:a16="http://schemas.microsoft.com/office/drawing/2014/main" id="{94C90628-272D-238A-FDEC-B152FD8B3195}"/>
                    </a:ext>
                  </a:extLst>
                </p:cNvPr>
                <p:cNvSpPr/>
                <p:nvPr/>
              </p:nvSpPr>
              <p:spPr>
                <a:xfrm>
                  <a:off x="9533620" y="2389824"/>
                  <a:ext cx="104429" cy="58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7" h="4248" extrusionOk="0">
                      <a:moveTo>
                        <a:pt x="2890" y="0"/>
                      </a:moveTo>
                      <a:cubicBezTo>
                        <a:pt x="1295" y="0"/>
                        <a:pt x="4" y="1294"/>
                        <a:pt x="1" y="2889"/>
                      </a:cubicBezTo>
                      <a:lnTo>
                        <a:pt x="1" y="3439"/>
                      </a:lnTo>
                      <a:cubicBezTo>
                        <a:pt x="10" y="3724"/>
                        <a:pt x="243" y="3954"/>
                        <a:pt x="531" y="3954"/>
                      </a:cubicBezTo>
                      <a:cubicBezTo>
                        <a:pt x="819" y="3954"/>
                        <a:pt x="1055" y="3724"/>
                        <a:pt x="1062" y="3439"/>
                      </a:cubicBezTo>
                      <a:lnTo>
                        <a:pt x="1062" y="2889"/>
                      </a:lnTo>
                      <a:cubicBezTo>
                        <a:pt x="1062" y="1880"/>
                        <a:pt x="1880" y="1061"/>
                        <a:pt x="2890" y="1058"/>
                      </a:cubicBezTo>
                      <a:lnTo>
                        <a:pt x="4669" y="1058"/>
                      </a:lnTo>
                      <a:cubicBezTo>
                        <a:pt x="5711" y="1061"/>
                        <a:pt x="6555" y="1902"/>
                        <a:pt x="6555" y="2944"/>
                      </a:cubicBezTo>
                      <a:lnTo>
                        <a:pt x="6555" y="3717"/>
                      </a:lnTo>
                      <a:cubicBezTo>
                        <a:pt x="6555" y="4012"/>
                        <a:pt x="6795" y="4248"/>
                        <a:pt x="7086" y="4248"/>
                      </a:cubicBezTo>
                      <a:cubicBezTo>
                        <a:pt x="7380" y="4248"/>
                        <a:pt x="7617" y="4012"/>
                        <a:pt x="7617" y="3717"/>
                      </a:cubicBezTo>
                      <a:lnTo>
                        <a:pt x="7617" y="2944"/>
                      </a:lnTo>
                      <a:cubicBezTo>
                        <a:pt x="7613" y="1320"/>
                        <a:pt x="6297" y="0"/>
                        <a:pt x="466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" name="Google Shape;9296;p74">
                  <a:extLst>
                    <a:ext uri="{FF2B5EF4-FFF2-40B4-BE49-F238E27FC236}">
                      <a16:creationId xmlns:a16="http://schemas.microsoft.com/office/drawing/2014/main" id="{EBC01374-D9CF-63D0-E966-4824015FF439}"/>
                    </a:ext>
                  </a:extLst>
                </p:cNvPr>
                <p:cNvSpPr/>
                <p:nvPr/>
              </p:nvSpPr>
              <p:spPr>
                <a:xfrm>
                  <a:off x="9504885" y="2171202"/>
                  <a:ext cx="97684" cy="145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25" h="1059" extrusionOk="0">
                      <a:moveTo>
                        <a:pt x="6598" y="0"/>
                      </a:moveTo>
                      <a:cubicBezTo>
                        <a:pt x="6592" y="0"/>
                        <a:pt x="6587" y="0"/>
                        <a:pt x="6581" y="0"/>
                      </a:cubicBezTo>
                      <a:lnTo>
                        <a:pt x="515" y="0"/>
                      </a:lnTo>
                      <a:cubicBezTo>
                        <a:pt x="227" y="7"/>
                        <a:pt x="0" y="243"/>
                        <a:pt x="0" y="528"/>
                      </a:cubicBezTo>
                      <a:cubicBezTo>
                        <a:pt x="0" y="816"/>
                        <a:pt x="227" y="1052"/>
                        <a:pt x="515" y="1058"/>
                      </a:cubicBezTo>
                      <a:lnTo>
                        <a:pt x="6581" y="1058"/>
                      </a:lnTo>
                      <a:cubicBezTo>
                        <a:pt x="6587" y="1058"/>
                        <a:pt x="6592" y="1059"/>
                        <a:pt x="6598" y="1059"/>
                      </a:cubicBezTo>
                      <a:cubicBezTo>
                        <a:pt x="6888" y="1059"/>
                        <a:pt x="7124" y="823"/>
                        <a:pt x="7124" y="528"/>
                      </a:cubicBezTo>
                      <a:cubicBezTo>
                        <a:pt x="7124" y="236"/>
                        <a:pt x="6888" y="0"/>
                        <a:pt x="659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" name="Google Shape;9297;p74">
                  <a:extLst>
                    <a:ext uri="{FF2B5EF4-FFF2-40B4-BE49-F238E27FC236}">
                      <a16:creationId xmlns:a16="http://schemas.microsoft.com/office/drawing/2014/main" id="{F42C181A-90DD-777A-FA5F-A06DC062CE36}"/>
                    </a:ext>
                  </a:extLst>
                </p:cNvPr>
                <p:cNvSpPr/>
                <p:nvPr/>
              </p:nvSpPr>
              <p:spPr>
                <a:xfrm>
                  <a:off x="9587826" y="2129731"/>
                  <a:ext cx="106993" cy="974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04" h="7109" extrusionOk="0">
                      <a:moveTo>
                        <a:pt x="4230" y="0"/>
                      </a:moveTo>
                      <a:cubicBezTo>
                        <a:pt x="4224" y="0"/>
                        <a:pt x="4218" y="0"/>
                        <a:pt x="4213" y="0"/>
                      </a:cubicBezTo>
                      <a:lnTo>
                        <a:pt x="3339" y="0"/>
                      </a:lnTo>
                      <a:cubicBezTo>
                        <a:pt x="1495" y="0"/>
                        <a:pt x="3" y="1495"/>
                        <a:pt x="0" y="3336"/>
                      </a:cubicBezTo>
                      <a:lnTo>
                        <a:pt x="0" y="3850"/>
                      </a:lnTo>
                      <a:cubicBezTo>
                        <a:pt x="3" y="5649"/>
                        <a:pt x="1459" y="7108"/>
                        <a:pt x="3258" y="7108"/>
                      </a:cubicBezTo>
                      <a:lnTo>
                        <a:pt x="7286" y="7108"/>
                      </a:lnTo>
                      <a:cubicBezTo>
                        <a:pt x="7574" y="7102"/>
                        <a:pt x="7804" y="6866"/>
                        <a:pt x="7804" y="6578"/>
                      </a:cubicBezTo>
                      <a:cubicBezTo>
                        <a:pt x="7804" y="6290"/>
                        <a:pt x="7574" y="6057"/>
                        <a:pt x="7286" y="6047"/>
                      </a:cubicBezTo>
                      <a:lnTo>
                        <a:pt x="3258" y="6047"/>
                      </a:lnTo>
                      <a:cubicBezTo>
                        <a:pt x="2045" y="6047"/>
                        <a:pt x="1061" y="5064"/>
                        <a:pt x="1061" y="3850"/>
                      </a:cubicBezTo>
                      <a:lnTo>
                        <a:pt x="1061" y="3336"/>
                      </a:lnTo>
                      <a:cubicBezTo>
                        <a:pt x="1061" y="2081"/>
                        <a:pt x="2080" y="1061"/>
                        <a:pt x="3339" y="1058"/>
                      </a:cubicBezTo>
                      <a:lnTo>
                        <a:pt x="4213" y="1058"/>
                      </a:lnTo>
                      <a:cubicBezTo>
                        <a:pt x="4218" y="1058"/>
                        <a:pt x="4224" y="1059"/>
                        <a:pt x="4230" y="1059"/>
                      </a:cubicBezTo>
                      <a:cubicBezTo>
                        <a:pt x="4520" y="1059"/>
                        <a:pt x="4756" y="823"/>
                        <a:pt x="4756" y="528"/>
                      </a:cubicBezTo>
                      <a:cubicBezTo>
                        <a:pt x="4756" y="236"/>
                        <a:pt x="4520" y="0"/>
                        <a:pt x="423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6" name="TextBox 13">
            <a:extLst>
              <a:ext uri="{FF2B5EF4-FFF2-40B4-BE49-F238E27FC236}">
                <a16:creationId xmlns:a16="http://schemas.microsoft.com/office/drawing/2014/main" id="{917C09F2-67AF-AB18-5008-A4AB114F72B1}"/>
              </a:ext>
            </a:extLst>
          </p:cNvPr>
          <p:cNvSpPr txBox="1"/>
          <p:nvPr/>
        </p:nvSpPr>
        <p:spPr>
          <a:xfrm>
            <a:off x="5233393" y="1270998"/>
            <a:ext cx="24712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VISÃO POR COMPUTADOR</a:t>
            </a:r>
            <a:endParaRPr lang="pt-PT" sz="1600" b="1" i="0" dirty="0">
              <a:solidFill>
                <a:schemeClr val="accent6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pt-PT" altLang="ko-KR" b="1" dirty="0">
              <a:solidFill>
                <a:srgbClr val="DBDEE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Isosceles Triangle 4">
            <a:extLst>
              <a:ext uri="{FF2B5EF4-FFF2-40B4-BE49-F238E27FC236}">
                <a16:creationId xmlns:a16="http://schemas.microsoft.com/office/drawing/2014/main" id="{9619AA38-4893-D8A8-B762-E65AA649D457}"/>
              </a:ext>
            </a:extLst>
          </p:cNvPr>
          <p:cNvSpPr/>
          <p:nvPr/>
        </p:nvSpPr>
        <p:spPr>
          <a:xfrm rot="5400000">
            <a:off x="3321314" y="1791519"/>
            <a:ext cx="647978" cy="454548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8" name="Isosceles Triangle 4">
            <a:extLst>
              <a:ext uri="{FF2B5EF4-FFF2-40B4-BE49-F238E27FC236}">
                <a16:creationId xmlns:a16="http://schemas.microsoft.com/office/drawing/2014/main" id="{E1BFE0E4-B41C-61B7-590E-A43C0F1F91E6}"/>
              </a:ext>
            </a:extLst>
          </p:cNvPr>
          <p:cNvSpPr/>
          <p:nvPr/>
        </p:nvSpPr>
        <p:spPr>
          <a:xfrm rot="5400000">
            <a:off x="3301751" y="3603941"/>
            <a:ext cx="647978" cy="454548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9" name="TextBox 13">
            <a:extLst>
              <a:ext uri="{FF2B5EF4-FFF2-40B4-BE49-F238E27FC236}">
                <a16:creationId xmlns:a16="http://schemas.microsoft.com/office/drawing/2014/main" id="{2C056AD0-748D-2079-D403-2123AB69EF62}"/>
              </a:ext>
            </a:extLst>
          </p:cNvPr>
          <p:cNvSpPr txBox="1"/>
          <p:nvPr/>
        </p:nvSpPr>
        <p:spPr>
          <a:xfrm>
            <a:off x="4990377" y="3123175"/>
            <a:ext cx="29572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APRENDIZAGEM MULTI-MODAL</a:t>
            </a:r>
            <a:endParaRPr lang="pt-PT" sz="1600" b="1" i="0" dirty="0">
              <a:solidFill>
                <a:schemeClr val="accent6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pt-PT" altLang="ko-KR" b="1" dirty="0">
              <a:solidFill>
                <a:srgbClr val="DBDEE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49B50B26-C0A6-D6A4-C674-64C7921470FC}"/>
              </a:ext>
            </a:extLst>
          </p:cNvPr>
          <p:cNvSpPr txBox="1"/>
          <p:nvPr/>
        </p:nvSpPr>
        <p:spPr>
          <a:xfrm>
            <a:off x="3985260" y="1681063"/>
            <a:ext cx="49453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Á</a:t>
            </a:r>
            <a:r>
              <a:rPr lang="pt-PT" sz="1600" b="1" i="0" dirty="0">
                <a:solidFill>
                  <a:schemeClr val="accent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rea que se refere ao processamento, análise e geração de imagens ou vídeos. Os modelos de difusão são extensivamente utilizados em visão por computador dado que uma das suas principais aplicações é a geração de imagens.</a:t>
            </a:r>
            <a:endParaRPr lang="pt-PT" altLang="ko-KR" sz="1100" b="1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12CDABC0-BFD6-B307-6FD5-2B5F52C6396B}"/>
              </a:ext>
            </a:extLst>
          </p:cNvPr>
          <p:cNvSpPr txBox="1"/>
          <p:nvPr/>
        </p:nvSpPr>
        <p:spPr>
          <a:xfrm>
            <a:off x="3985260" y="3550542"/>
            <a:ext cx="49933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b="1" i="0" dirty="0">
                <a:solidFill>
                  <a:schemeClr val="accent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Envolve o treino de modelos com múltiplos dados de entrada. Os modelos de difusão são particularmente úteis nesse contexto, pois são capazes de lidar com entradas complexas e heterogêneas, permitindo que sejam treinados com dados </a:t>
            </a:r>
            <a:r>
              <a:rPr lang="pt-PT" sz="1600" b="1" i="0" dirty="0" err="1">
                <a:solidFill>
                  <a:schemeClr val="accent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multi-modais</a:t>
            </a:r>
            <a:r>
              <a:rPr lang="pt-PT" sz="1600" b="1" i="0" dirty="0">
                <a:solidFill>
                  <a:schemeClr val="accent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para gerar saídas em diferentes formatos.</a:t>
            </a:r>
            <a:endParaRPr lang="pt-PT" altLang="ko-KR" sz="1100" b="1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Hexágono 32">
            <a:extLst>
              <a:ext uri="{FF2B5EF4-FFF2-40B4-BE49-F238E27FC236}">
                <a16:creationId xmlns:a16="http://schemas.microsoft.com/office/drawing/2014/main" id="{35E9D4BA-6D37-473C-4430-AA801FC94259}"/>
              </a:ext>
            </a:extLst>
          </p:cNvPr>
          <p:cNvSpPr/>
          <p:nvPr/>
        </p:nvSpPr>
        <p:spPr>
          <a:xfrm>
            <a:off x="8652544" y="4582953"/>
            <a:ext cx="438977" cy="397564"/>
          </a:xfrm>
          <a:prstGeom prst="hexag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79136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CDB1AB-49F5-4AA5-B07B-AB280AA43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2800" b="1" dirty="0">
                <a:latin typeface="Calibri" panose="020F0502020204030204" pitchFamily="34" charset="0"/>
                <a:cs typeface="Calibri" panose="020F0502020204030204" pitchFamily="34" charset="0"/>
              </a:rPr>
              <a:t>VISÃO POR COMPUTADOR</a:t>
            </a:r>
          </a:p>
        </p:txBody>
      </p:sp>
      <p:grpSp>
        <p:nvGrpSpPr>
          <p:cNvPr id="51" name="그룹 3">
            <a:extLst>
              <a:ext uri="{FF2B5EF4-FFF2-40B4-BE49-F238E27FC236}">
                <a16:creationId xmlns:a16="http://schemas.microsoft.com/office/drawing/2014/main" id="{5C28F45B-6D37-FD3E-86CD-81B095FB5D2E}"/>
              </a:ext>
            </a:extLst>
          </p:cNvPr>
          <p:cNvGrpSpPr/>
          <p:nvPr/>
        </p:nvGrpSpPr>
        <p:grpSpPr>
          <a:xfrm>
            <a:off x="2653858" y="1481368"/>
            <a:ext cx="3264094" cy="3217107"/>
            <a:chOff x="4382242" y="2281838"/>
            <a:chExt cx="3400125" cy="3427152"/>
          </a:xfrm>
        </p:grpSpPr>
        <p:grpSp>
          <p:nvGrpSpPr>
            <p:cNvPr id="52" name="Group 3">
              <a:extLst>
                <a:ext uri="{FF2B5EF4-FFF2-40B4-BE49-F238E27FC236}">
                  <a16:creationId xmlns:a16="http://schemas.microsoft.com/office/drawing/2014/main" id="{C3658C09-6BB2-DEFB-A91F-267C2D3F3877}"/>
                </a:ext>
              </a:extLst>
            </p:cNvPr>
            <p:cNvGrpSpPr/>
            <p:nvPr/>
          </p:nvGrpSpPr>
          <p:grpSpPr>
            <a:xfrm>
              <a:off x="4646600" y="2551056"/>
              <a:ext cx="2880320" cy="2880320"/>
              <a:chOff x="3131840" y="1916832"/>
              <a:chExt cx="2880320" cy="2880320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6B4430A8-1ADD-5F24-78F0-9D88C845ED45}"/>
                  </a:ext>
                </a:extLst>
              </p:cNvPr>
              <p:cNvSpPr/>
              <p:nvPr/>
            </p:nvSpPr>
            <p:spPr>
              <a:xfrm>
                <a:off x="3856650" y="1916832"/>
                <a:ext cx="1440160" cy="144016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FC85F4D4-0BDD-A92E-E569-9F8719A8CCB0}"/>
                  </a:ext>
                </a:extLst>
              </p:cNvPr>
              <p:cNvSpPr/>
              <p:nvPr/>
            </p:nvSpPr>
            <p:spPr>
              <a:xfrm>
                <a:off x="3131840" y="2634730"/>
                <a:ext cx="1440160" cy="1440160"/>
              </a:xfrm>
              <a:prstGeom prst="ellipse">
                <a:avLst/>
              </a:prstGeom>
              <a:solidFill>
                <a:schemeClr val="accent3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B9721F5D-6C71-E13C-4638-46DF85E74722}"/>
                  </a:ext>
                </a:extLst>
              </p:cNvPr>
              <p:cNvSpPr/>
              <p:nvPr/>
            </p:nvSpPr>
            <p:spPr>
              <a:xfrm>
                <a:off x="3856650" y="3356992"/>
                <a:ext cx="1440160" cy="1440160"/>
              </a:xfrm>
              <a:prstGeom prst="ellipse">
                <a:avLst/>
              </a:prstGeom>
              <a:solidFill>
                <a:schemeClr val="accent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291FB949-FD20-33FC-CD51-27523F285397}"/>
                  </a:ext>
                </a:extLst>
              </p:cNvPr>
              <p:cNvSpPr/>
              <p:nvPr/>
            </p:nvSpPr>
            <p:spPr>
              <a:xfrm>
                <a:off x="4572000" y="2634730"/>
                <a:ext cx="1440160" cy="1440160"/>
              </a:xfrm>
              <a:prstGeom prst="ellipse">
                <a:avLst/>
              </a:pr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</p:grp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A0CEB2B-D675-EBD9-971B-9C61FFB33DC0}"/>
                </a:ext>
              </a:extLst>
            </p:cNvPr>
            <p:cNvSpPr/>
            <p:nvPr/>
          </p:nvSpPr>
          <p:spPr>
            <a:xfrm>
              <a:off x="5731450" y="2281838"/>
              <a:ext cx="720080" cy="720080"/>
            </a:xfrm>
            <a:prstGeom prst="ellipse">
              <a:avLst/>
            </a:prstGeom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E9971E0E-EE7F-C793-792A-7C5CE027AB05}"/>
                </a:ext>
              </a:extLst>
            </p:cNvPr>
            <p:cNvSpPr/>
            <p:nvPr/>
          </p:nvSpPr>
          <p:spPr>
            <a:xfrm>
              <a:off x="4382242" y="3628994"/>
              <a:ext cx="720080" cy="720080"/>
            </a:xfrm>
            <a:prstGeom prst="ellipse">
              <a:avLst/>
            </a:prstGeom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63EAB73-436A-87EB-A22D-A58A4B5C50D1}"/>
                </a:ext>
              </a:extLst>
            </p:cNvPr>
            <p:cNvSpPr/>
            <p:nvPr/>
          </p:nvSpPr>
          <p:spPr>
            <a:xfrm>
              <a:off x="7062287" y="3628994"/>
              <a:ext cx="720080" cy="720080"/>
            </a:xfrm>
            <a:prstGeom prst="ellipse">
              <a:avLst/>
            </a:prstGeom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9B83E676-1E21-8F26-1768-82DE79A7105E}"/>
                </a:ext>
              </a:extLst>
            </p:cNvPr>
            <p:cNvSpPr/>
            <p:nvPr/>
          </p:nvSpPr>
          <p:spPr>
            <a:xfrm>
              <a:off x="5731450" y="4988910"/>
              <a:ext cx="720080" cy="720080"/>
            </a:xfrm>
            <a:prstGeom prst="ellipse">
              <a:avLst/>
            </a:prstGeom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</p:grpSp>
      <p:sp>
        <p:nvSpPr>
          <p:cNvPr id="61" name="TextBox 13">
            <a:extLst>
              <a:ext uri="{FF2B5EF4-FFF2-40B4-BE49-F238E27FC236}">
                <a16:creationId xmlns:a16="http://schemas.microsoft.com/office/drawing/2014/main" id="{65920481-3340-21BB-15FD-D7F731D44B3D}"/>
              </a:ext>
            </a:extLst>
          </p:cNvPr>
          <p:cNvSpPr txBox="1"/>
          <p:nvPr/>
        </p:nvSpPr>
        <p:spPr>
          <a:xfrm>
            <a:off x="2907640" y="1056090"/>
            <a:ext cx="23621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PT" sz="20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Super</a:t>
            </a:r>
            <a:r>
              <a:rPr lang="pt-PT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Resolução</a:t>
            </a:r>
            <a:endParaRPr lang="ko-KR" altLang="en-US" sz="1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TextBox 16">
            <a:extLst>
              <a:ext uri="{FF2B5EF4-FFF2-40B4-BE49-F238E27FC236}">
                <a16:creationId xmlns:a16="http://schemas.microsoft.com/office/drawing/2014/main" id="{40D5A07A-AEAA-F241-D492-5BE7C5A959EE}"/>
              </a:ext>
            </a:extLst>
          </p:cNvPr>
          <p:cNvSpPr txBox="1"/>
          <p:nvPr/>
        </p:nvSpPr>
        <p:spPr>
          <a:xfrm>
            <a:off x="229502" y="2883877"/>
            <a:ext cx="2382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PT" sz="2000" b="1" dirty="0" err="1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Inpainting</a:t>
            </a:r>
            <a:endParaRPr lang="ko-KR" altLang="en-US" sz="1100" b="1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TextBox 19">
            <a:extLst>
              <a:ext uri="{FF2B5EF4-FFF2-40B4-BE49-F238E27FC236}">
                <a16:creationId xmlns:a16="http://schemas.microsoft.com/office/drawing/2014/main" id="{0E124709-37DE-0A26-FFA3-734ED9539C43}"/>
              </a:ext>
            </a:extLst>
          </p:cNvPr>
          <p:cNvSpPr txBox="1"/>
          <p:nvPr/>
        </p:nvSpPr>
        <p:spPr>
          <a:xfrm>
            <a:off x="2299852" y="4649529"/>
            <a:ext cx="3980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Tradução de Imagem para Imagem</a:t>
            </a:r>
            <a:endParaRPr lang="ko-KR" altLang="en-US" sz="1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TextBox 22">
            <a:extLst>
              <a:ext uri="{FF2B5EF4-FFF2-40B4-BE49-F238E27FC236}">
                <a16:creationId xmlns:a16="http://schemas.microsoft.com/office/drawing/2014/main" id="{88B5E4C9-3AF3-921F-D531-F3843A00100A}"/>
              </a:ext>
            </a:extLst>
          </p:cNvPr>
          <p:cNvSpPr txBox="1"/>
          <p:nvPr/>
        </p:nvSpPr>
        <p:spPr>
          <a:xfrm>
            <a:off x="5997296" y="2828940"/>
            <a:ext cx="2985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Segmentação de Imagens</a:t>
            </a:r>
            <a:endParaRPr lang="ko-KR" altLang="en-US" sz="1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Block Arc 41">
            <a:extLst>
              <a:ext uri="{FF2B5EF4-FFF2-40B4-BE49-F238E27FC236}">
                <a16:creationId xmlns:a16="http://schemas.microsoft.com/office/drawing/2014/main" id="{B1A78C7D-5312-D551-79DE-20F62943CBFF}"/>
              </a:ext>
            </a:extLst>
          </p:cNvPr>
          <p:cNvSpPr/>
          <p:nvPr/>
        </p:nvSpPr>
        <p:spPr>
          <a:xfrm>
            <a:off x="4039001" y="4111825"/>
            <a:ext cx="502364" cy="497351"/>
          </a:xfrm>
          <a:custGeom>
            <a:avLst/>
            <a:gdLst/>
            <a:ahLst/>
            <a:cxnLst/>
            <a:rect l="l" t="t" r="r" b="b"/>
            <a:pathLst>
              <a:path w="2844151" h="2880180">
                <a:moveTo>
                  <a:pt x="2390187" y="1502145"/>
                </a:moveTo>
                <a:lnTo>
                  <a:pt x="2844151" y="1530794"/>
                </a:lnTo>
                <a:cubicBezTo>
                  <a:pt x="2804784" y="2154619"/>
                  <a:pt x="2367464" y="2681809"/>
                  <a:pt x="1761650" y="2835749"/>
                </a:cubicBezTo>
                <a:cubicBezTo>
                  <a:pt x="1191486" y="2980631"/>
                  <a:pt x="594633" y="2763755"/>
                  <a:pt x="252983" y="2293680"/>
                </a:cubicBezTo>
                <a:lnTo>
                  <a:pt x="102982" y="2380283"/>
                </a:lnTo>
                <a:lnTo>
                  <a:pt x="104524" y="1603708"/>
                </a:lnTo>
                <a:lnTo>
                  <a:pt x="777828" y="1990661"/>
                </a:lnTo>
                <a:lnTo>
                  <a:pt x="648358" y="2065410"/>
                </a:lnTo>
                <a:cubicBezTo>
                  <a:pt x="886760" y="2358087"/>
                  <a:pt x="1276546" y="2489694"/>
                  <a:pt x="1649627" y="2394891"/>
                </a:cubicBezTo>
                <a:cubicBezTo>
                  <a:pt x="2064076" y="2289577"/>
                  <a:pt x="2363256" y="1928916"/>
                  <a:pt x="2390187" y="1502145"/>
                </a:cubicBezTo>
                <a:close/>
                <a:moveTo>
                  <a:pt x="1424249" y="58"/>
                </a:moveTo>
                <a:cubicBezTo>
                  <a:pt x="1880498" y="-4073"/>
                  <a:pt x="2318325" y="209551"/>
                  <a:pt x="2591169" y="586524"/>
                </a:cubicBezTo>
                <a:lnTo>
                  <a:pt x="2741170" y="499921"/>
                </a:lnTo>
                <a:lnTo>
                  <a:pt x="2739628" y="1276497"/>
                </a:lnTo>
                <a:lnTo>
                  <a:pt x="2066324" y="889544"/>
                </a:lnTo>
                <a:lnTo>
                  <a:pt x="2195793" y="814795"/>
                </a:lnTo>
                <a:cubicBezTo>
                  <a:pt x="1957391" y="522118"/>
                  <a:pt x="1567606" y="390511"/>
                  <a:pt x="1194524" y="485313"/>
                </a:cubicBezTo>
                <a:cubicBezTo>
                  <a:pt x="780075" y="590627"/>
                  <a:pt x="480895" y="951288"/>
                  <a:pt x="453964" y="1378059"/>
                </a:cubicBezTo>
                <a:lnTo>
                  <a:pt x="0" y="1349410"/>
                </a:lnTo>
                <a:cubicBezTo>
                  <a:pt x="39367" y="725585"/>
                  <a:pt x="476687" y="198395"/>
                  <a:pt x="1082501" y="44455"/>
                </a:cubicBezTo>
                <a:cubicBezTo>
                  <a:pt x="1196091" y="15591"/>
                  <a:pt x="1310740" y="1086"/>
                  <a:pt x="1424249" y="58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pic>
        <p:nvPicPr>
          <p:cNvPr id="87" name="Gráfico 86" descr="Pincel com preenchimento sólido">
            <a:extLst>
              <a:ext uri="{FF2B5EF4-FFF2-40B4-BE49-F238E27FC236}">
                <a16:creationId xmlns:a16="http://schemas.microsoft.com/office/drawing/2014/main" id="{DB2AF727-8CDB-2A32-5DDA-359BF5419C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1270" y="2806238"/>
            <a:ext cx="559485" cy="559485"/>
          </a:xfrm>
          <a:prstGeom prst="rect">
            <a:avLst/>
          </a:prstGeom>
        </p:spPr>
      </p:pic>
      <p:pic>
        <p:nvPicPr>
          <p:cNvPr id="89" name="Gráfico 88" descr="Alvo com preenchimento sólido">
            <a:extLst>
              <a:ext uri="{FF2B5EF4-FFF2-40B4-BE49-F238E27FC236}">
                <a16:creationId xmlns:a16="http://schemas.microsoft.com/office/drawing/2014/main" id="{7B4B9DE0-B6DA-3001-E90A-3B54C88C48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8728" y="2704016"/>
            <a:ext cx="759831" cy="759831"/>
          </a:xfrm>
          <a:prstGeom prst="rect">
            <a:avLst/>
          </a:prstGeom>
        </p:spPr>
      </p:pic>
      <p:pic>
        <p:nvPicPr>
          <p:cNvPr id="91" name="Gráfico 90" descr="Abertura com preenchimento sólido">
            <a:extLst>
              <a:ext uri="{FF2B5EF4-FFF2-40B4-BE49-F238E27FC236}">
                <a16:creationId xmlns:a16="http://schemas.microsoft.com/office/drawing/2014/main" id="{1333CF03-4F5C-1766-B1EE-058D54A8F8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49087" y="1477340"/>
            <a:ext cx="691271" cy="691271"/>
          </a:xfrm>
          <a:prstGeom prst="rect">
            <a:avLst/>
          </a:prstGeom>
        </p:spPr>
      </p:pic>
      <p:sp>
        <p:nvSpPr>
          <p:cNvPr id="92" name="Hexágono 91">
            <a:extLst>
              <a:ext uri="{FF2B5EF4-FFF2-40B4-BE49-F238E27FC236}">
                <a16:creationId xmlns:a16="http://schemas.microsoft.com/office/drawing/2014/main" id="{E637943B-E9BE-25E8-031E-C45B369797B9}"/>
              </a:ext>
            </a:extLst>
          </p:cNvPr>
          <p:cNvSpPr/>
          <p:nvPr/>
        </p:nvSpPr>
        <p:spPr>
          <a:xfrm>
            <a:off x="8652544" y="4582953"/>
            <a:ext cx="438977" cy="397564"/>
          </a:xfrm>
          <a:prstGeom prst="hexag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18749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CDB1AB-49F5-4AA5-B07B-AB280AA43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2800" b="1" dirty="0">
                <a:latin typeface="Calibri" panose="020F0502020204030204" pitchFamily="34" charset="0"/>
                <a:cs typeface="Calibri" panose="020F0502020204030204" pitchFamily="34" charset="0"/>
              </a:rPr>
              <a:t>APRENDIZAGEM MULTI-MODAL</a:t>
            </a:r>
          </a:p>
        </p:txBody>
      </p:sp>
      <p:grpSp>
        <p:nvGrpSpPr>
          <p:cNvPr id="51" name="그룹 3">
            <a:extLst>
              <a:ext uri="{FF2B5EF4-FFF2-40B4-BE49-F238E27FC236}">
                <a16:creationId xmlns:a16="http://schemas.microsoft.com/office/drawing/2014/main" id="{5C28F45B-6D37-FD3E-86CD-81B095FB5D2E}"/>
              </a:ext>
            </a:extLst>
          </p:cNvPr>
          <p:cNvGrpSpPr/>
          <p:nvPr/>
        </p:nvGrpSpPr>
        <p:grpSpPr>
          <a:xfrm>
            <a:off x="2730058" y="1991908"/>
            <a:ext cx="3264094" cy="2278512"/>
            <a:chOff x="4382242" y="2281838"/>
            <a:chExt cx="3400125" cy="2427276"/>
          </a:xfrm>
        </p:grpSpPr>
        <p:grpSp>
          <p:nvGrpSpPr>
            <p:cNvPr id="52" name="Group 3">
              <a:extLst>
                <a:ext uri="{FF2B5EF4-FFF2-40B4-BE49-F238E27FC236}">
                  <a16:creationId xmlns:a16="http://schemas.microsoft.com/office/drawing/2014/main" id="{C3658C09-6BB2-DEFB-A91F-267C2D3F3877}"/>
                </a:ext>
              </a:extLst>
            </p:cNvPr>
            <p:cNvGrpSpPr/>
            <p:nvPr/>
          </p:nvGrpSpPr>
          <p:grpSpPr>
            <a:xfrm>
              <a:off x="4646600" y="2551056"/>
              <a:ext cx="2880320" cy="2158058"/>
              <a:chOff x="3131840" y="1916832"/>
              <a:chExt cx="2880320" cy="2158058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6B4430A8-1ADD-5F24-78F0-9D88C845ED45}"/>
                  </a:ext>
                </a:extLst>
              </p:cNvPr>
              <p:cNvSpPr/>
              <p:nvPr/>
            </p:nvSpPr>
            <p:spPr>
              <a:xfrm>
                <a:off x="3856650" y="1916832"/>
                <a:ext cx="1440160" cy="144016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FC85F4D4-0BDD-A92E-E569-9F8719A8CCB0}"/>
                  </a:ext>
                </a:extLst>
              </p:cNvPr>
              <p:cNvSpPr/>
              <p:nvPr/>
            </p:nvSpPr>
            <p:spPr>
              <a:xfrm>
                <a:off x="3131840" y="2634730"/>
                <a:ext cx="1440160" cy="1440160"/>
              </a:xfrm>
              <a:prstGeom prst="ellipse">
                <a:avLst/>
              </a:prstGeom>
              <a:solidFill>
                <a:schemeClr val="accent3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291FB949-FD20-33FC-CD51-27523F285397}"/>
                  </a:ext>
                </a:extLst>
              </p:cNvPr>
              <p:cNvSpPr/>
              <p:nvPr/>
            </p:nvSpPr>
            <p:spPr>
              <a:xfrm>
                <a:off x="4572000" y="2634730"/>
                <a:ext cx="1440160" cy="1440160"/>
              </a:xfrm>
              <a:prstGeom prst="ellipse">
                <a:avLst/>
              </a:prstGeom>
              <a:solidFill>
                <a:schemeClr val="accent1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</p:grp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A0CEB2B-D675-EBD9-971B-9C61FFB33DC0}"/>
                </a:ext>
              </a:extLst>
            </p:cNvPr>
            <p:cNvSpPr/>
            <p:nvPr/>
          </p:nvSpPr>
          <p:spPr>
            <a:xfrm>
              <a:off x="5731450" y="2281838"/>
              <a:ext cx="720080" cy="720080"/>
            </a:xfrm>
            <a:prstGeom prst="ellipse">
              <a:avLst/>
            </a:prstGeom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E9971E0E-EE7F-C793-792A-7C5CE027AB05}"/>
                </a:ext>
              </a:extLst>
            </p:cNvPr>
            <p:cNvSpPr/>
            <p:nvPr/>
          </p:nvSpPr>
          <p:spPr>
            <a:xfrm>
              <a:off x="4382242" y="3628994"/>
              <a:ext cx="720080" cy="720080"/>
            </a:xfrm>
            <a:prstGeom prst="ellipse">
              <a:avLst/>
            </a:prstGeom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63EAB73-436A-87EB-A22D-A58A4B5C50D1}"/>
                </a:ext>
              </a:extLst>
            </p:cNvPr>
            <p:cNvSpPr/>
            <p:nvPr/>
          </p:nvSpPr>
          <p:spPr>
            <a:xfrm>
              <a:off x="7062287" y="3628994"/>
              <a:ext cx="720080" cy="720080"/>
            </a:xfrm>
            <a:prstGeom prst="ellipse">
              <a:avLst/>
            </a:prstGeom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</p:grpSp>
      <p:sp>
        <p:nvSpPr>
          <p:cNvPr id="61" name="TextBox 13">
            <a:extLst>
              <a:ext uri="{FF2B5EF4-FFF2-40B4-BE49-F238E27FC236}">
                <a16:creationId xmlns:a16="http://schemas.microsoft.com/office/drawing/2014/main" id="{65920481-3340-21BB-15FD-D7F731D44B3D}"/>
              </a:ext>
            </a:extLst>
          </p:cNvPr>
          <p:cNvSpPr txBox="1"/>
          <p:nvPr/>
        </p:nvSpPr>
        <p:spPr>
          <a:xfrm>
            <a:off x="3185297" y="1560031"/>
            <a:ext cx="23621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PT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Texto para Imagem</a:t>
            </a:r>
            <a:endParaRPr lang="ko-KR" altLang="en-US" sz="1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TextBox 16">
            <a:extLst>
              <a:ext uri="{FF2B5EF4-FFF2-40B4-BE49-F238E27FC236}">
                <a16:creationId xmlns:a16="http://schemas.microsoft.com/office/drawing/2014/main" id="{40D5A07A-AEAA-F241-D492-5BE7C5A959EE}"/>
              </a:ext>
            </a:extLst>
          </p:cNvPr>
          <p:cNvSpPr txBox="1"/>
          <p:nvPr/>
        </p:nvSpPr>
        <p:spPr>
          <a:xfrm>
            <a:off x="305702" y="3394417"/>
            <a:ext cx="2382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PT" sz="2000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Texto para Áudio</a:t>
            </a:r>
            <a:endParaRPr lang="ko-KR" altLang="en-US" sz="1100" b="1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TextBox 22">
            <a:extLst>
              <a:ext uri="{FF2B5EF4-FFF2-40B4-BE49-F238E27FC236}">
                <a16:creationId xmlns:a16="http://schemas.microsoft.com/office/drawing/2014/main" id="{88B5E4C9-3AF3-921F-D531-F3843A00100A}"/>
              </a:ext>
            </a:extLst>
          </p:cNvPr>
          <p:cNvSpPr txBox="1"/>
          <p:nvPr/>
        </p:nvSpPr>
        <p:spPr>
          <a:xfrm>
            <a:off x="6073496" y="3339480"/>
            <a:ext cx="30705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Modelação de Grafos Moleculares</a:t>
            </a:r>
            <a:endParaRPr lang="ko-KR" altLang="en-US" sz="1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Gráfico 2" descr="Imagens com preenchimento sólido">
            <a:extLst>
              <a:ext uri="{FF2B5EF4-FFF2-40B4-BE49-F238E27FC236}">
                <a16:creationId xmlns:a16="http://schemas.microsoft.com/office/drawing/2014/main" id="{53F41BE3-1B12-DD63-B478-84D4CDE5B2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22126" y="2083236"/>
            <a:ext cx="488514" cy="488514"/>
          </a:xfrm>
          <a:prstGeom prst="rect">
            <a:avLst/>
          </a:prstGeom>
        </p:spPr>
      </p:pic>
      <p:sp>
        <p:nvSpPr>
          <p:cNvPr id="4" name="Oval 66">
            <a:extLst>
              <a:ext uri="{FF2B5EF4-FFF2-40B4-BE49-F238E27FC236}">
                <a16:creationId xmlns:a16="http://schemas.microsoft.com/office/drawing/2014/main" id="{6AD95F90-1782-7F80-4769-557EC8FD269B}"/>
              </a:ext>
            </a:extLst>
          </p:cNvPr>
          <p:cNvSpPr/>
          <p:nvPr/>
        </p:nvSpPr>
        <p:spPr>
          <a:xfrm rot="20700000">
            <a:off x="2806217" y="3415245"/>
            <a:ext cx="448512" cy="358454"/>
          </a:xfrm>
          <a:custGeom>
            <a:avLst/>
            <a:gdLst/>
            <a:ahLst/>
            <a:cxnLst/>
            <a:rect l="l" t="t" r="r" b="b"/>
            <a:pathLst>
              <a:path w="2901316" h="2485205">
                <a:moveTo>
                  <a:pt x="2901316" y="8833"/>
                </a:moveTo>
                <a:lnTo>
                  <a:pt x="2885407" y="69738"/>
                </a:lnTo>
                <a:lnTo>
                  <a:pt x="2890344" y="71061"/>
                </a:lnTo>
                <a:lnTo>
                  <a:pt x="2331295" y="2157461"/>
                </a:lnTo>
                <a:lnTo>
                  <a:pt x="2322295" y="2155049"/>
                </a:lnTo>
                <a:cubicBezTo>
                  <a:pt x="2311779" y="2339141"/>
                  <a:pt x="2127696" y="2485205"/>
                  <a:pt x="1902404" y="2485205"/>
                </a:cubicBezTo>
                <a:cubicBezTo>
                  <a:pt x="1669201" y="2485205"/>
                  <a:pt x="1480151" y="2328701"/>
                  <a:pt x="1480150" y="2135644"/>
                </a:cubicBezTo>
                <a:cubicBezTo>
                  <a:pt x="1480150" y="1942587"/>
                  <a:pt x="1669200" y="1786083"/>
                  <a:pt x="1902404" y="1786083"/>
                </a:cubicBezTo>
                <a:cubicBezTo>
                  <a:pt x="2026046" y="1786083"/>
                  <a:pt x="2137276" y="1830075"/>
                  <a:pt x="2213623" y="1901150"/>
                </a:cubicBezTo>
                <a:lnTo>
                  <a:pt x="2586815" y="508378"/>
                </a:lnTo>
                <a:lnTo>
                  <a:pt x="1283297" y="508378"/>
                </a:lnTo>
                <a:lnTo>
                  <a:pt x="847984" y="2132988"/>
                </a:lnTo>
                <a:lnTo>
                  <a:pt x="841776" y="2131324"/>
                </a:lnTo>
                <a:cubicBezTo>
                  <a:pt x="829584" y="2314002"/>
                  <a:pt x="646295" y="2458448"/>
                  <a:pt x="422254" y="2458448"/>
                </a:cubicBezTo>
                <a:cubicBezTo>
                  <a:pt x="189051" y="2458448"/>
                  <a:pt x="1" y="2301944"/>
                  <a:pt x="0" y="2108887"/>
                </a:cubicBezTo>
                <a:cubicBezTo>
                  <a:pt x="0" y="1915830"/>
                  <a:pt x="189051" y="1759326"/>
                  <a:pt x="422255" y="1759326"/>
                </a:cubicBezTo>
                <a:cubicBezTo>
                  <a:pt x="544771" y="1759326"/>
                  <a:pt x="655100" y="1802522"/>
                  <a:pt x="731465" y="1872378"/>
                </a:cubicBezTo>
                <a:lnTo>
                  <a:pt x="1233167" y="0"/>
                </a:lnTo>
                <a:lnTo>
                  <a:pt x="1266129" y="8833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pic>
        <p:nvPicPr>
          <p:cNvPr id="6" name="Gráfico 5" descr="Átomo com preenchimento sólido">
            <a:extLst>
              <a:ext uri="{FF2B5EF4-FFF2-40B4-BE49-F238E27FC236}">
                <a16:creationId xmlns:a16="http://schemas.microsoft.com/office/drawing/2014/main" id="{85A44271-9AA6-6B2C-93AB-BC93F87A6A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1301" y="3246438"/>
            <a:ext cx="675948" cy="675948"/>
          </a:xfrm>
          <a:prstGeom prst="rect">
            <a:avLst/>
          </a:prstGeom>
        </p:spPr>
      </p:pic>
      <p:sp>
        <p:nvSpPr>
          <p:cNvPr id="7" name="Hexágono 6">
            <a:extLst>
              <a:ext uri="{FF2B5EF4-FFF2-40B4-BE49-F238E27FC236}">
                <a16:creationId xmlns:a16="http://schemas.microsoft.com/office/drawing/2014/main" id="{1E67D420-A6D1-9976-BFCF-ED404086AE03}"/>
              </a:ext>
            </a:extLst>
          </p:cNvPr>
          <p:cNvSpPr/>
          <p:nvPr/>
        </p:nvSpPr>
        <p:spPr>
          <a:xfrm>
            <a:off x="8652544" y="4582953"/>
            <a:ext cx="438977" cy="397564"/>
          </a:xfrm>
          <a:prstGeom prst="hexag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17978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CDB1AB-49F5-4AA5-B07B-AB280AA43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2800" b="1" dirty="0">
                <a:latin typeface="Calibri" panose="020F0502020204030204" pitchFamily="34" charset="0"/>
                <a:cs typeface="Calibri" panose="020F0502020204030204" pitchFamily="34" charset="0"/>
              </a:rPr>
              <a:t>CASOS DE ESTUDO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F7E4990-98E7-33C1-C779-36FBC8ABF992}"/>
              </a:ext>
            </a:extLst>
          </p:cNvPr>
          <p:cNvSpPr/>
          <p:nvPr/>
        </p:nvSpPr>
        <p:spPr>
          <a:xfrm>
            <a:off x="3760032" y="1482709"/>
            <a:ext cx="782052" cy="7594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7670BC8-673D-078A-7551-3CFAB573D782}"/>
              </a:ext>
            </a:extLst>
          </p:cNvPr>
          <p:cNvSpPr/>
          <p:nvPr/>
        </p:nvSpPr>
        <p:spPr>
          <a:xfrm>
            <a:off x="3751477" y="3781287"/>
            <a:ext cx="782052" cy="7594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Google Shape;13785;p38">
            <a:extLst>
              <a:ext uri="{FF2B5EF4-FFF2-40B4-BE49-F238E27FC236}">
                <a16:creationId xmlns:a16="http://schemas.microsoft.com/office/drawing/2014/main" id="{87B1DE51-BB06-8E6D-204A-EFAB1C9B496F}"/>
              </a:ext>
            </a:extLst>
          </p:cNvPr>
          <p:cNvSpPr txBox="1">
            <a:spLocks/>
          </p:cNvSpPr>
          <p:nvPr/>
        </p:nvSpPr>
        <p:spPr>
          <a:xfrm>
            <a:off x="1851660" y="2886287"/>
            <a:ext cx="2485733" cy="565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 algn="r"/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Sistema de 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geração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 de imagens</a:t>
            </a:r>
            <a:endParaRPr lang="pt-PT" dirty="0">
              <a:solidFill>
                <a:schemeClr val="accent6"/>
              </a:solidFill>
              <a:latin typeface="Calibri"/>
              <a:cs typeface="Calibri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0065FDB-7974-2D8C-7113-8841481A637C}"/>
              </a:ext>
            </a:extLst>
          </p:cNvPr>
          <p:cNvSpPr/>
          <p:nvPr/>
        </p:nvSpPr>
        <p:spPr>
          <a:xfrm>
            <a:off x="4340366" y="2737866"/>
            <a:ext cx="782052" cy="7594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Google Shape;13784;p38">
            <a:extLst>
              <a:ext uri="{FF2B5EF4-FFF2-40B4-BE49-F238E27FC236}">
                <a16:creationId xmlns:a16="http://schemas.microsoft.com/office/drawing/2014/main" id="{8344E8B9-89B4-1A8F-ACEA-D63C7E67B35B}"/>
              </a:ext>
            </a:extLst>
          </p:cNvPr>
          <p:cNvSpPr txBox="1">
            <a:spLocks/>
          </p:cNvSpPr>
          <p:nvPr/>
        </p:nvSpPr>
        <p:spPr>
          <a:xfrm>
            <a:off x="4568856" y="1291595"/>
            <a:ext cx="2197402" cy="519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700" b="1" i="0" u="none" strike="noStrike" cap="none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" sz="2000" dirty="0">
                <a:solidFill>
                  <a:schemeClr val="accent6"/>
                </a:solidFill>
                <a:latin typeface="Calibri"/>
                <a:cs typeface="Calibri"/>
              </a:rPr>
              <a:t>U-Net</a:t>
            </a:r>
            <a:endParaRPr lang="pt-PT" dirty="0"/>
          </a:p>
        </p:txBody>
      </p:sp>
      <p:sp>
        <p:nvSpPr>
          <p:cNvPr id="8" name="Google Shape;13785;p38">
            <a:extLst>
              <a:ext uri="{FF2B5EF4-FFF2-40B4-BE49-F238E27FC236}">
                <a16:creationId xmlns:a16="http://schemas.microsoft.com/office/drawing/2014/main" id="{BC7D66E0-0D57-31C8-E187-E6A7BE14B586}"/>
              </a:ext>
            </a:extLst>
          </p:cNvPr>
          <p:cNvSpPr txBox="1">
            <a:spLocks/>
          </p:cNvSpPr>
          <p:nvPr/>
        </p:nvSpPr>
        <p:spPr>
          <a:xfrm>
            <a:off x="4561662" y="1691838"/>
            <a:ext cx="2547797" cy="584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Arquitetura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 de rede neural</a:t>
            </a:r>
            <a:endParaRPr lang="en" sz="1600" b="1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Google Shape;13784;p38">
            <a:extLst>
              <a:ext uri="{FF2B5EF4-FFF2-40B4-BE49-F238E27FC236}">
                <a16:creationId xmlns:a16="http://schemas.microsoft.com/office/drawing/2014/main" id="{42621ADA-4474-1923-27A4-39B1C512EEF4}"/>
              </a:ext>
            </a:extLst>
          </p:cNvPr>
          <p:cNvSpPr txBox="1">
            <a:spLocks/>
          </p:cNvSpPr>
          <p:nvPr/>
        </p:nvSpPr>
        <p:spPr>
          <a:xfrm>
            <a:off x="2362890" y="2529619"/>
            <a:ext cx="1964289" cy="5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700" b="1" i="0" u="none" strike="noStrike" cap="none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 algn="r">
              <a:buClr>
                <a:schemeClr val="dk1"/>
              </a:buClr>
              <a:buSzPts val="1100"/>
            </a:pPr>
            <a:r>
              <a:rPr lang="en" sz="2000" dirty="0">
                <a:solidFill>
                  <a:schemeClr val="accent6"/>
                </a:solidFill>
                <a:latin typeface="Calibri"/>
                <a:cs typeface="Calibri"/>
              </a:rPr>
              <a:t>DALL-E 2</a:t>
            </a:r>
            <a:endParaRPr lang="en" sz="2000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Google Shape;13784;p38">
            <a:extLst>
              <a:ext uri="{FF2B5EF4-FFF2-40B4-BE49-F238E27FC236}">
                <a16:creationId xmlns:a16="http://schemas.microsoft.com/office/drawing/2014/main" id="{4BAA8C05-5294-F7B8-EDD5-33FA3B300745}"/>
              </a:ext>
            </a:extLst>
          </p:cNvPr>
          <p:cNvSpPr txBox="1">
            <a:spLocks/>
          </p:cNvSpPr>
          <p:nvPr/>
        </p:nvSpPr>
        <p:spPr>
          <a:xfrm>
            <a:off x="4609726" y="3692795"/>
            <a:ext cx="2197402" cy="519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700" b="1" i="0" u="none" strike="noStrike" cap="none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>
              <a:buClr>
                <a:schemeClr val="dk1"/>
              </a:buClr>
              <a:buSzPts val="1100"/>
            </a:pPr>
            <a:r>
              <a:rPr lang="en" sz="2000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AIVA</a:t>
            </a:r>
          </a:p>
        </p:txBody>
      </p:sp>
      <p:sp>
        <p:nvSpPr>
          <p:cNvPr id="11" name="Google Shape;13785;p38">
            <a:extLst>
              <a:ext uri="{FF2B5EF4-FFF2-40B4-BE49-F238E27FC236}">
                <a16:creationId xmlns:a16="http://schemas.microsoft.com/office/drawing/2014/main" id="{548FE0DB-D0D4-2682-5199-93AB12368A28}"/>
              </a:ext>
            </a:extLst>
          </p:cNvPr>
          <p:cNvSpPr txBox="1">
            <a:spLocks/>
          </p:cNvSpPr>
          <p:nvPr/>
        </p:nvSpPr>
        <p:spPr>
          <a:xfrm>
            <a:off x="4602533" y="4093038"/>
            <a:ext cx="2204203" cy="602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2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" sz="1600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Sistema de geração de músicas</a:t>
            </a:r>
          </a:p>
        </p:txBody>
      </p:sp>
      <p:pic>
        <p:nvPicPr>
          <p:cNvPr id="16" name="Gráfico 15" descr="Imagens com preenchimento sólido">
            <a:extLst>
              <a:ext uri="{FF2B5EF4-FFF2-40B4-BE49-F238E27FC236}">
                <a16:creationId xmlns:a16="http://schemas.microsoft.com/office/drawing/2014/main" id="{84A09650-0AF8-A257-81A0-8D1AF7D0F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53087" y="2834694"/>
            <a:ext cx="565792" cy="565792"/>
          </a:xfrm>
          <a:prstGeom prst="rect">
            <a:avLst/>
          </a:prstGeom>
        </p:spPr>
      </p:pic>
      <p:sp>
        <p:nvSpPr>
          <p:cNvPr id="17" name="Oval 66">
            <a:extLst>
              <a:ext uri="{FF2B5EF4-FFF2-40B4-BE49-F238E27FC236}">
                <a16:creationId xmlns:a16="http://schemas.microsoft.com/office/drawing/2014/main" id="{463DDC8F-C190-9076-34F0-981A133063BD}"/>
              </a:ext>
            </a:extLst>
          </p:cNvPr>
          <p:cNvSpPr/>
          <p:nvPr/>
        </p:nvSpPr>
        <p:spPr>
          <a:xfrm rot="20700000">
            <a:off x="3866843" y="3955814"/>
            <a:ext cx="494878" cy="410438"/>
          </a:xfrm>
          <a:custGeom>
            <a:avLst/>
            <a:gdLst/>
            <a:ahLst/>
            <a:cxnLst/>
            <a:rect l="l" t="t" r="r" b="b"/>
            <a:pathLst>
              <a:path w="2901316" h="2485205">
                <a:moveTo>
                  <a:pt x="2901316" y="8833"/>
                </a:moveTo>
                <a:lnTo>
                  <a:pt x="2885407" y="69738"/>
                </a:lnTo>
                <a:lnTo>
                  <a:pt x="2890344" y="71061"/>
                </a:lnTo>
                <a:lnTo>
                  <a:pt x="2331295" y="2157461"/>
                </a:lnTo>
                <a:lnTo>
                  <a:pt x="2322295" y="2155049"/>
                </a:lnTo>
                <a:cubicBezTo>
                  <a:pt x="2311779" y="2339141"/>
                  <a:pt x="2127696" y="2485205"/>
                  <a:pt x="1902404" y="2485205"/>
                </a:cubicBezTo>
                <a:cubicBezTo>
                  <a:pt x="1669201" y="2485205"/>
                  <a:pt x="1480151" y="2328701"/>
                  <a:pt x="1480150" y="2135644"/>
                </a:cubicBezTo>
                <a:cubicBezTo>
                  <a:pt x="1480150" y="1942587"/>
                  <a:pt x="1669200" y="1786083"/>
                  <a:pt x="1902404" y="1786083"/>
                </a:cubicBezTo>
                <a:cubicBezTo>
                  <a:pt x="2026046" y="1786083"/>
                  <a:pt x="2137276" y="1830075"/>
                  <a:pt x="2213623" y="1901150"/>
                </a:cubicBezTo>
                <a:lnTo>
                  <a:pt x="2586815" y="508378"/>
                </a:lnTo>
                <a:lnTo>
                  <a:pt x="1283297" y="508378"/>
                </a:lnTo>
                <a:lnTo>
                  <a:pt x="847984" y="2132988"/>
                </a:lnTo>
                <a:lnTo>
                  <a:pt x="841776" y="2131324"/>
                </a:lnTo>
                <a:cubicBezTo>
                  <a:pt x="829584" y="2314002"/>
                  <a:pt x="646295" y="2458448"/>
                  <a:pt x="422254" y="2458448"/>
                </a:cubicBezTo>
                <a:cubicBezTo>
                  <a:pt x="189051" y="2458448"/>
                  <a:pt x="1" y="2301944"/>
                  <a:pt x="0" y="2108887"/>
                </a:cubicBezTo>
                <a:cubicBezTo>
                  <a:pt x="0" y="1915830"/>
                  <a:pt x="189051" y="1759326"/>
                  <a:pt x="422255" y="1759326"/>
                </a:cubicBezTo>
                <a:cubicBezTo>
                  <a:pt x="544771" y="1759326"/>
                  <a:pt x="655100" y="1802522"/>
                  <a:pt x="731465" y="1872378"/>
                </a:cubicBezTo>
                <a:lnTo>
                  <a:pt x="1233167" y="0"/>
                </a:lnTo>
                <a:lnTo>
                  <a:pt x="1266129" y="88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8" name="Frame 17">
            <a:extLst>
              <a:ext uri="{FF2B5EF4-FFF2-40B4-BE49-F238E27FC236}">
                <a16:creationId xmlns:a16="http://schemas.microsoft.com/office/drawing/2014/main" id="{52F889AB-FB1D-D606-E34C-5CF7C6613A44}"/>
              </a:ext>
            </a:extLst>
          </p:cNvPr>
          <p:cNvSpPr/>
          <p:nvPr/>
        </p:nvSpPr>
        <p:spPr>
          <a:xfrm>
            <a:off x="3903585" y="1634108"/>
            <a:ext cx="483305" cy="464196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9" name="Hexágono 18">
            <a:extLst>
              <a:ext uri="{FF2B5EF4-FFF2-40B4-BE49-F238E27FC236}">
                <a16:creationId xmlns:a16="http://schemas.microsoft.com/office/drawing/2014/main" id="{6C99B426-2062-EB13-7AFF-7123A74C5761}"/>
              </a:ext>
            </a:extLst>
          </p:cNvPr>
          <p:cNvSpPr/>
          <p:nvPr/>
        </p:nvSpPr>
        <p:spPr>
          <a:xfrm>
            <a:off x="8539200" y="4540780"/>
            <a:ext cx="552321" cy="439737"/>
          </a:xfrm>
          <a:prstGeom prst="hexag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40653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D61B1E-2F1E-6893-E37F-5AFCD21AA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2800" b="1" dirty="0">
                <a:latin typeface="Calibri" panose="020F0502020204030204" pitchFamily="34" charset="0"/>
                <a:cs typeface="Calibri" panose="020F0502020204030204" pitchFamily="34" charset="0"/>
              </a:rPr>
              <a:t>U-Net</a:t>
            </a:r>
          </a:p>
        </p:txBody>
      </p:sp>
      <p:sp>
        <p:nvSpPr>
          <p:cNvPr id="10" name="Google Shape;949;p71">
            <a:extLst>
              <a:ext uri="{FF2B5EF4-FFF2-40B4-BE49-F238E27FC236}">
                <a16:creationId xmlns:a16="http://schemas.microsoft.com/office/drawing/2014/main" id="{FB675702-69EA-3745-9DD7-E018653A400E}"/>
              </a:ext>
            </a:extLst>
          </p:cNvPr>
          <p:cNvSpPr txBox="1">
            <a:spLocks/>
          </p:cNvSpPr>
          <p:nvPr/>
        </p:nvSpPr>
        <p:spPr>
          <a:xfrm>
            <a:off x="386306" y="2876879"/>
            <a:ext cx="1597200" cy="658801"/>
          </a:xfrm>
          <a:prstGeom prst="rect">
            <a:avLst/>
          </a:prstGeom>
          <a:noFill/>
          <a:ln>
            <a:noFill/>
          </a:ln>
          <a:effectLst>
            <a:outerShdw blurRad="42863" dist="9525" dir="5400000" algn="bl" rotWithShape="0">
              <a:schemeClr val="lt1">
                <a:alpha val="2500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nria Sans"/>
              <a:buChar char="⬥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nria Sans"/>
              <a:buChar char="⬦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Inria Sans"/>
              <a:buChar char="⬩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"/>
              <a:buChar char="●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"/>
              <a:buChar char="○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"/>
              <a:buChar char="■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"/>
              <a:buChar char="●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"/>
              <a:buChar char="○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400"/>
              <a:buFont typeface="Inria Sans"/>
              <a:buChar char="■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9pPr>
          </a:lstStyle>
          <a:p>
            <a:pPr marL="0" indent="0" algn="ctr">
              <a:buFont typeface="Inria Sans"/>
              <a:buNone/>
            </a:pPr>
            <a:r>
              <a:rPr lang="pt-PT" sz="1600" b="1" i="0" dirty="0">
                <a:solidFill>
                  <a:schemeClr val="accent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Universidade de Friburgo</a:t>
            </a:r>
            <a:endParaRPr lang="en-US" sz="2000" b="1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Google Shape;951;p71">
            <a:extLst>
              <a:ext uri="{FF2B5EF4-FFF2-40B4-BE49-F238E27FC236}">
                <a16:creationId xmlns:a16="http://schemas.microsoft.com/office/drawing/2014/main" id="{0DDA3EC0-A4F3-40E5-4E1E-2F48DA535DBB}"/>
              </a:ext>
            </a:extLst>
          </p:cNvPr>
          <p:cNvSpPr txBox="1">
            <a:spLocks/>
          </p:cNvSpPr>
          <p:nvPr/>
        </p:nvSpPr>
        <p:spPr>
          <a:xfrm>
            <a:off x="1974523" y="3453697"/>
            <a:ext cx="1882228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Arquitetura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de redes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neuronais</a:t>
            </a:r>
            <a:endParaRPr lang="en" sz="1600" b="1" dirty="0" err="1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dirty="0"/>
          </a:p>
        </p:txBody>
      </p:sp>
      <p:sp>
        <p:nvSpPr>
          <p:cNvPr id="14" name="Google Shape;956;p71">
            <a:extLst>
              <a:ext uri="{FF2B5EF4-FFF2-40B4-BE49-F238E27FC236}">
                <a16:creationId xmlns:a16="http://schemas.microsoft.com/office/drawing/2014/main" id="{6A0704EE-3017-3E51-82F6-AA2E1A76155D}"/>
              </a:ext>
            </a:extLst>
          </p:cNvPr>
          <p:cNvSpPr/>
          <p:nvPr/>
        </p:nvSpPr>
        <p:spPr>
          <a:xfrm>
            <a:off x="661431" y="1487289"/>
            <a:ext cx="1230900" cy="1230900"/>
          </a:xfrm>
          <a:prstGeom prst="donut">
            <a:avLst>
              <a:gd name="adj" fmla="val 6912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956;p71">
            <a:extLst>
              <a:ext uri="{FF2B5EF4-FFF2-40B4-BE49-F238E27FC236}">
                <a16:creationId xmlns:a16="http://schemas.microsoft.com/office/drawing/2014/main" id="{CE1DEA78-EAB2-2087-5E06-FCAEDBA5E636}"/>
              </a:ext>
            </a:extLst>
          </p:cNvPr>
          <p:cNvSpPr/>
          <p:nvPr/>
        </p:nvSpPr>
        <p:spPr>
          <a:xfrm>
            <a:off x="2305548" y="2168693"/>
            <a:ext cx="1230900" cy="1230900"/>
          </a:xfrm>
          <a:prstGeom prst="donut">
            <a:avLst>
              <a:gd name="adj" fmla="val 6912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956;p71">
            <a:extLst>
              <a:ext uri="{FF2B5EF4-FFF2-40B4-BE49-F238E27FC236}">
                <a16:creationId xmlns:a16="http://schemas.microsoft.com/office/drawing/2014/main" id="{BEFF5A33-A0B9-C2D3-FE20-DB52F6D555CA}"/>
              </a:ext>
            </a:extLst>
          </p:cNvPr>
          <p:cNvSpPr/>
          <p:nvPr/>
        </p:nvSpPr>
        <p:spPr>
          <a:xfrm>
            <a:off x="3959791" y="1487289"/>
            <a:ext cx="1230900" cy="1230900"/>
          </a:xfrm>
          <a:prstGeom prst="donut">
            <a:avLst>
              <a:gd name="adj" fmla="val 6912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956;p71">
            <a:extLst>
              <a:ext uri="{FF2B5EF4-FFF2-40B4-BE49-F238E27FC236}">
                <a16:creationId xmlns:a16="http://schemas.microsoft.com/office/drawing/2014/main" id="{CAE83E04-8D95-1436-D31F-797489D702CE}"/>
              </a:ext>
            </a:extLst>
          </p:cNvPr>
          <p:cNvSpPr/>
          <p:nvPr/>
        </p:nvSpPr>
        <p:spPr>
          <a:xfrm>
            <a:off x="5656472" y="2113490"/>
            <a:ext cx="1230900" cy="1230900"/>
          </a:xfrm>
          <a:prstGeom prst="donut">
            <a:avLst>
              <a:gd name="adj" fmla="val 6912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956;p71">
            <a:extLst>
              <a:ext uri="{FF2B5EF4-FFF2-40B4-BE49-F238E27FC236}">
                <a16:creationId xmlns:a16="http://schemas.microsoft.com/office/drawing/2014/main" id="{47783785-5997-3DDD-C345-086FB9D5439A}"/>
              </a:ext>
            </a:extLst>
          </p:cNvPr>
          <p:cNvSpPr/>
          <p:nvPr/>
        </p:nvSpPr>
        <p:spPr>
          <a:xfrm>
            <a:off x="7248025" y="1487289"/>
            <a:ext cx="1230900" cy="1230900"/>
          </a:xfrm>
          <a:prstGeom prst="donut">
            <a:avLst>
              <a:gd name="adj" fmla="val 6912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6EE7BDA-1706-BCDE-27BC-A65298DC5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505" y="1626363"/>
            <a:ext cx="952752" cy="952752"/>
          </a:xfrm>
          <a:prstGeom prst="rect">
            <a:avLst/>
          </a:prstGeom>
        </p:spPr>
      </p:pic>
      <p:sp>
        <p:nvSpPr>
          <p:cNvPr id="5" name="Hexágono 4">
            <a:extLst>
              <a:ext uri="{FF2B5EF4-FFF2-40B4-BE49-F238E27FC236}">
                <a16:creationId xmlns:a16="http://schemas.microsoft.com/office/drawing/2014/main" id="{DA8F43F7-2BFD-166A-A6FD-86CA25539125}"/>
              </a:ext>
            </a:extLst>
          </p:cNvPr>
          <p:cNvSpPr/>
          <p:nvPr/>
        </p:nvSpPr>
        <p:spPr>
          <a:xfrm>
            <a:off x="8539200" y="4540780"/>
            <a:ext cx="552321" cy="439737"/>
          </a:xfrm>
          <a:prstGeom prst="hexag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11</a:t>
            </a:r>
          </a:p>
        </p:txBody>
      </p:sp>
      <p:sp>
        <p:nvSpPr>
          <p:cNvPr id="3" name="Google Shape;951;p71">
            <a:extLst>
              <a:ext uri="{FF2B5EF4-FFF2-40B4-BE49-F238E27FC236}">
                <a16:creationId xmlns:a16="http://schemas.microsoft.com/office/drawing/2014/main" id="{F891430F-C449-56D0-F8EA-8361873F9C59}"/>
              </a:ext>
            </a:extLst>
          </p:cNvPr>
          <p:cNvSpPr txBox="1">
            <a:spLocks/>
          </p:cNvSpPr>
          <p:nvPr/>
        </p:nvSpPr>
        <p:spPr>
          <a:xfrm>
            <a:off x="3630407" y="2786947"/>
            <a:ext cx="1882228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Consome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uma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imagem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e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produz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uma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imagem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com o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mesmo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tamanho</a:t>
            </a:r>
            <a:endParaRPr lang="en" sz="1600" b="1" dirty="0" err="1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dirty="0"/>
          </a:p>
        </p:txBody>
      </p:sp>
      <p:sp>
        <p:nvSpPr>
          <p:cNvPr id="6" name="Google Shape;951;p71">
            <a:extLst>
              <a:ext uri="{FF2B5EF4-FFF2-40B4-BE49-F238E27FC236}">
                <a16:creationId xmlns:a16="http://schemas.microsoft.com/office/drawing/2014/main" id="{710B0598-372B-B984-D50C-0C9794EA1C21}"/>
              </a:ext>
            </a:extLst>
          </p:cNvPr>
          <p:cNvSpPr txBox="1">
            <a:spLocks/>
          </p:cNvSpPr>
          <p:nvPr/>
        </p:nvSpPr>
        <p:spPr>
          <a:xfrm>
            <a:off x="5403522" y="3402408"/>
            <a:ext cx="1882228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Utilizado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em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 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segmentação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de imagens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médicas</a:t>
            </a:r>
            <a:endParaRPr lang="en" sz="1600" b="1" dirty="0" err="1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dirty="0"/>
          </a:p>
        </p:txBody>
      </p:sp>
      <p:sp>
        <p:nvSpPr>
          <p:cNvPr id="8" name="Google Shape;951;p71">
            <a:extLst>
              <a:ext uri="{FF2B5EF4-FFF2-40B4-BE49-F238E27FC236}">
                <a16:creationId xmlns:a16="http://schemas.microsoft.com/office/drawing/2014/main" id="{1EA421ED-4D64-E3C2-CBEA-050D085AEBE8}"/>
              </a:ext>
            </a:extLst>
          </p:cNvPr>
          <p:cNvSpPr txBox="1">
            <a:spLocks/>
          </p:cNvSpPr>
          <p:nvPr/>
        </p:nvSpPr>
        <p:spPr>
          <a:xfrm>
            <a:off x="6920194" y="2786946"/>
            <a:ext cx="1882228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Arquitetura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mais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utilizada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por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modelos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de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difusão</a:t>
            </a:r>
          </a:p>
          <a:p>
            <a:pPr algn="ctr"/>
            <a:endParaRPr lang="en-US" dirty="0"/>
          </a:p>
        </p:txBody>
      </p:sp>
      <p:pic>
        <p:nvPicPr>
          <p:cNvPr id="13" name="Gráfico 12" descr="Rede com preenchimento sólido">
            <a:extLst>
              <a:ext uri="{FF2B5EF4-FFF2-40B4-BE49-F238E27FC236}">
                <a16:creationId xmlns:a16="http://schemas.microsoft.com/office/drawing/2014/main" id="{5CAFD4B2-FA5B-0DEE-E0C0-CD03AE6CB9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40760" y="2409733"/>
            <a:ext cx="756291" cy="756291"/>
          </a:xfrm>
          <a:prstGeom prst="rect">
            <a:avLst/>
          </a:prstGeom>
        </p:spPr>
      </p:pic>
      <p:pic>
        <p:nvPicPr>
          <p:cNvPr id="18" name="Gráfico 17" descr="Estetoscópio com preenchimento sólido">
            <a:extLst>
              <a:ext uri="{FF2B5EF4-FFF2-40B4-BE49-F238E27FC236}">
                <a16:creationId xmlns:a16="http://schemas.microsoft.com/office/drawing/2014/main" id="{36325D69-E764-E9AC-423B-021FC00522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96490" y="2351118"/>
            <a:ext cx="756291" cy="756291"/>
          </a:xfrm>
          <a:prstGeom prst="rect">
            <a:avLst/>
          </a:prstGeom>
        </p:spPr>
      </p:pic>
      <p:pic>
        <p:nvPicPr>
          <p:cNvPr id="21" name="Gráfico 20" descr="Imagens com preenchimento sólido">
            <a:extLst>
              <a:ext uri="{FF2B5EF4-FFF2-40B4-BE49-F238E27FC236}">
                <a16:creationId xmlns:a16="http://schemas.microsoft.com/office/drawing/2014/main" id="{AF1A883A-B4A5-D55D-7D22-C725632F39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89318" y="1713675"/>
            <a:ext cx="778272" cy="778272"/>
          </a:xfrm>
          <a:prstGeom prst="rect">
            <a:avLst/>
          </a:prstGeom>
        </p:spPr>
      </p:pic>
      <p:pic>
        <p:nvPicPr>
          <p:cNvPr id="22" name="Gráfico 21" descr="Estatísticas com preenchimento sólido">
            <a:extLst>
              <a:ext uri="{FF2B5EF4-FFF2-40B4-BE49-F238E27FC236}">
                <a16:creationId xmlns:a16="http://schemas.microsoft.com/office/drawing/2014/main" id="{A8B6DF40-5F7F-8EB6-3CF6-39DA30531AA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71779" y="1728328"/>
            <a:ext cx="778272" cy="77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78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D61B1E-2F1E-6893-E37F-5AFCD21AA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2800" b="1" dirty="0">
                <a:latin typeface="Calibri" panose="020F0502020204030204" pitchFamily="34" charset="0"/>
                <a:cs typeface="Calibri" panose="020F0502020204030204" pitchFamily="34" charset="0"/>
              </a:rPr>
              <a:t>DALL-E 2</a:t>
            </a:r>
          </a:p>
        </p:txBody>
      </p:sp>
      <p:sp>
        <p:nvSpPr>
          <p:cNvPr id="10" name="Google Shape;949;p71">
            <a:extLst>
              <a:ext uri="{FF2B5EF4-FFF2-40B4-BE49-F238E27FC236}">
                <a16:creationId xmlns:a16="http://schemas.microsoft.com/office/drawing/2014/main" id="{FB675702-69EA-3745-9DD7-E018653A400E}"/>
              </a:ext>
            </a:extLst>
          </p:cNvPr>
          <p:cNvSpPr txBox="1">
            <a:spLocks/>
          </p:cNvSpPr>
          <p:nvPr/>
        </p:nvSpPr>
        <p:spPr>
          <a:xfrm>
            <a:off x="386306" y="2876879"/>
            <a:ext cx="1597200" cy="467511"/>
          </a:xfrm>
          <a:prstGeom prst="rect">
            <a:avLst/>
          </a:prstGeom>
          <a:noFill/>
          <a:ln>
            <a:noFill/>
          </a:ln>
          <a:effectLst>
            <a:outerShdw blurRad="42863" dist="9525" dir="5400000" algn="bl" rotWithShape="0">
              <a:schemeClr val="lt1">
                <a:alpha val="2500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nria Sans"/>
              <a:buChar char="⬥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nria Sans"/>
              <a:buChar char="⬦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Inria Sans"/>
              <a:buChar char="⬩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"/>
              <a:buChar char="●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"/>
              <a:buChar char="○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"/>
              <a:buChar char="■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"/>
              <a:buChar char="●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"/>
              <a:buChar char="○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400"/>
              <a:buFont typeface="Inria Sans"/>
              <a:buChar char="■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9pPr>
          </a:lstStyle>
          <a:p>
            <a:pPr marL="0" indent="0" algn="ctr">
              <a:buFont typeface="Inria Sans"/>
              <a:buNone/>
            </a:pPr>
            <a:r>
              <a:rPr lang="en-U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OpenAI</a:t>
            </a:r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Google Shape;951;p71">
            <a:extLst>
              <a:ext uri="{FF2B5EF4-FFF2-40B4-BE49-F238E27FC236}">
                <a16:creationId xmlns:a16="http://schemas.microsoft.com/office/drawing/2014/main" id="{0DDA3EC0-A4F3-40E5-4E1E-2F48DA535DBB}"/>
              </a:ext>
            </a:extLst>
          </p:cNvPr>
          <p:cNvSpPr txBox="1">
            <a:spLocks/>
          </p:cNvSpPr>
          <p:nvPr/>
        </p:nvSpPr>
        <p:spPr>
          <a:xfrm>
            <a:off x="1974523" y="3453697"/>
            <a:ext cx="1882228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/>
            <a:r>
              <a:rPr lang="en" sz="1600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Sistema de geração de imagens</a:t>
            </a:r>
          </a:p>
          <a:p>
            <a:pPr algn="ctr"/>
            <a:endParaRPr lang="en-US" dirty="0"/>
          </a:p>
        </p:txBody>
      </p:sp>
      <p:sp>
        <p:nvSpPr>
          <p:cNvPr id="14" name="Google Shape;956;p71">
            <a:extLst>
              <a:ext uri="{FF2B5EF4-FFF2-40B4-BE49-F238E27FC236}">
                <a16:creationId xmlns:a16="http://schemas.microsoft.com/office/drawing/2014/main" id="{6A0704EE-3017-3E51-82F6-AA2E1A76155D}"/>
              </a:ext>
            </a:extLst>
          </p:cNvPr>
          <p:cNvSpPr/>
          <p:nvPr/>
        </p:nvSpPr>
        <p:spPr>
          <a:xfrm>
            <a:off x="661431" y="1487289"/>
            <a:ext cx="1230900" cy="1223574"/>
          </a:xfrm>
          <a:prstGeom prst="donut">
            <a:avLst>
              <a:gd name="adj" fmla="val 6912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956;p71">
            <a:extLst>
              <a:ext uri="{FF2B5EF4-FFF2-40B4-BE49-F238E27FC236}">
                <a16:creationId xmlns:a16="http://schemas.microsoft.com/office/drawing/2014/main" id="{CE1DEA78-EAB2-2087-5E06-FCAEDBA5E636}"/>
              </a:ext>
            </a:extLst>
          </p:cNvPr>
          <p:cNvSpPr/>
          <p:nvPr/>
        </p:nvSpPr>
        <p:spPr>
          <a:xfrm>
            <a:off x="2305548" y="2168693"/>
            <a:ext cx="1230900" cy="1230900"/>
          </a:xfrm>
          <a:prstGeom prst="donut">
            <a:avLst>
              <a:gd name="adj" fmla="val 6912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956;p71">
            <a:extLst>
              <a:ext uri="{FF2B5EF4-FFF2-40B4-BE49-F238E27FC236}">
                <a16:creationId xmlns:a16="http://schemas.microsoft.com/office/drawing/2014/main" id="{BEFF5A33-A0B9-C2D3-FE20-DB52F6D555CA}"/>
              </a:ext>
            </a:extLst>
          </p:cNvPr>
          <p:cNvSpPr/>
          <p:nvPr/>
        </p:nvSpPr>
        <p:spPr>
          <a:xfrm>
            <a:off x="3959791" y="1487289"/>
            <a:ext cx="1230900" cy="1230900"/>
          </a:xfrm>
          <a:prstGeom prst="donut">
            <a:avLst>
              <a:gd name="adj" fmla="val 6912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956;p71">
            <a:extLst>
              <a:ext uri="{FF2B5EF4-FFF2-40B4-BE49-F238E27FC236}">
                <a16:creationId xmlns:a16="http://schemas.microsoft.com/office/drawing/2014/main" id="{CAE83E04-8D95-1436-D31F-797489D702CE}"/>
              </a:ext>
            </a:extLst>
          </p:cNvPr>
          <p:cNvSpPr/>
          <p:nvPr/>
        </p:nvSpPr>
        <p:spPr>
          <a:xfrm>
            <a:off x="5656472" y="2113490"/>
            <a:ext cx="1230900" cy="1230900"/>
          </a:xfrm>
          <a:prstGeom prst="donut">
            <a:avLst>
              <a:gd name="adj" fmla="val 6912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956;p71">
            <a:extLst>
              <a:ext uri="{FF2B5EF4-FFF2-40B4-BE49-F238E27FC236}">
                <a16:creationId xmlns:a16="http://schemas.microsoft.com/office/drawing/2014/main" id="{47783785-5997-3DDD-C345-086FB9D5439A}"/>
              </a:ext>
            </a:extLst>
          </p:cNvPr>
          <p:cNvSpPr/>
          <p:nvPr/>
        </p:nvSpPr>
        <p:spPr>
          <a:xfrm>
            <a:off x="7248025" y="1487289"/>
            <a:ext cx="1230900" cy="1230900"/>
          </a:xfrm>
          <a:prstGeom prst="donut">
            <a:avLst>
              <a:gd name="adj" fmla="val 6912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Hexágono 32">
            <a:extLst>
              <a:ext uri="{FF2B5EF4-FFF2-40B4-BE49-F238E27FC236}">
                <a16:creationId xmlns:a16="http://schemas.microsoft.com/office/drawing/2014/main" id="{6D4E9C67-A887-2BFE-8222-E278FEC5C3A3}"/>
              </a:ext>
            </a:extLst>
          </p:cNvPr>
          <p:cNvSpPr/>
          <p:nvPr/>
        </p:nvSpPr>
        <p:spPr>
          <a:xfrm>
            <a:off x="8539200" y="4540780"/>
            <a:ext cx="552321" cy="439737"/>
          </a:xfrm>
          <a:prstGeom prst="hexag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12</a:t>
            </a:r>
          </a:p>
        </p:txBody>
      </p:sp>
      <p:pic>
        <p:nvPicPr>
          <p:cNvPr id="3" name="Imagem 3" descr="Uma imagem com logótipo&#10;&#10;Descrição gerada automaticamente">
            <a:extLst>
              <a:ext uri="{FF2B5EF4-FFF2-40B4-BE49-F238E27FC236}">
                <a16:creationId xmlns:a16="http://schemas.microsoft.com/office/drawing/2014/main" id="{DAB1C8F6-442C-C648-07A0-03ECE586E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75" y="1615158"/>
            <a:ext cx="970932" cy="971458"/>
          </a:xfrm>
          <a:prstGeom prst="rect">
            <a:avLst/>
          </a:prstGeom>
        </p:spPr>
      </p:pic>
      <p:sp>
        <p:nvSpPr>
          <p:cNvPr id="4" name="Google Shape;951;p71">
            <a:extLst>
              <a:ext uri="{FF2B5EF4-FFF2-40B4-BE49-F238E27FC236}">
                <a16:creationId xmlns:a16="http://schemas.microsoft.com/office/drawing/2014/main" id="{38110350-FCD8-039C-87CF-11247FFACC23}"/>
              </a:ext>
            </a:extLst>
          </p:cNvPr>
          <p:cNvSpPr txBox="1">
            <a:spLocks/>
          </p:cNvSpPr>
          <p:nvPr/>
        </p:nvSpPr>
        <p:spPr>
          <a:xfrm>
            <a:off x="3630408" y="2786947"/>
            <a:ext cx="1882228" cy="12314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Permite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criar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imagens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realistas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e de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qualidade</a:t>
            </a:r>
            <a:endParaRPr lang="en" sz="1600" b="1" dirty="0" err="1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dirty="0"/>
          </a:p>
        </p:txBody>
      </p:sp>
      <p:sp>
        <p:nvSpPr>
          <p:cNvPr id="5" name="Google Shape;951;p71">
            <a:extLst>
              <a:ext uri="{FF2B5EF4-FFF2-40B4-BE49-F238E27FC236}">
                <a16:creationId xmlns:a16="http://schemas.microsoft.com/office/drawing/2014/main" id="{3475B8F0-E121-9D0A-1F19-044DEE99CC8A}"/>
              </a:ext>
            </a:extLst>
          </p:cNvPr>
          <p:cNvSpPr txBox="1">
            <a:spLocks/>
          </p:cNvSpPr>
          <p:nvPr/>
        </p:nvSpPr>
        <p:spPr>
          <a:xfrm>
            <a:off x="5330254" y="3402408"/>
            <a:ext cx="1882228" cy="13632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Qualquer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pessoa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sem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conhecimentos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artisticos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pode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criar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imagens de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qualidade</a:t>
            </a:r>
          </a:p>
        </p:txBody>
      </p:sp>
      <p:sp>
        <p:nvSpPr>
          <p:cNvPr id="6" name="Google Shape;951;p71">
            <a:extLst>
              <a:ext uri="{FF2B5EF4-FFF2-40B4-BE49-F238E27FC236}">
                <a16:creationId xmlns:a16="http://schemas.microsoft.com/office/drawing/2014/main" id="{D8E6D4A5-08A9-9F83-D6B2-DB9314548144}"/>
              </a:ext>
            </a:extLst>
          </p:cNvPr>
          <p:cNvSpPr txBox="1">
            <a:spLocks/>
          </p:cNvSpPr>
          <p:nvPr/>
        </p:nvSpPr>
        <p:spPr>
          <a:xfrm>
            <a:off x="7030100" y="2786946"/>
            <a:ext cx="1882228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Capacidade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de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inferir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sobre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novas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situações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mostrando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criatividade</a:t>
            </a:r>
          </a:p>
        </p:txBody>
      </p:sp>
      <p:pic>
        <p:nvPicPr>
          <p:cNvPr id="8" name="Gráfico 7" descr="Imagens com preenchimento sólido">
            <a:extLst>
              <a:ext uri="{FF2B5EF4-FFF2-40B4-BE49-F238E27FC236}">
                <a16:creationId xmlns:a16="http://schemas.microsoft.com/office/drawing/2014/main" id="{B45D97D7-D218-7B79-6D8E-63A00DC17A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33433" y="2395079"/>
            <a:ext cx="778272" cy="778272"/>
          </a:xfrm>
          <a:prstGeom prst="rect">
            <a:avLst/>
          </a:prstGeom>
        </p:spPr>
      </p:pic>
      <p:pic>
        <p:nvPicPr>
          <p:cNvPr id="13" name="Gráfico 12" descr="Marca de Verificação com preenchimento sólido">
            <a:extLst>
              <a:ext uri="{FF2B5EF4-FFF2-40B4-BE49-F238E27FC236}">
                <a16:creationId xmlns:a16="http://schemas.microsoft.com/office/drawing/2014/main" id="{F59ACAC6-3997-24EF-E7F2-B286541E25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89318" y="1713675"/>
            <a:ext cx="778272" cy="778272"/>
          </a:xfrm>
          <a:prstGeom prst="rect">
            <a:avLst/>
          </a:prstGeom>
        </p:spPr>
      </p:pic>
      <p:pic>
        <p:nvPicPr>
          <p:cNvPr id="20" name="Gráfico 19" descr="Globo terrestre: África e Europa com preenchimento sólido">
            <a:extLst>
              <a:ext uri="{FF2B5EF4-FFF2-40B4-BE49-F238E27FC236}">
                <a16:creationId xmlns:a16="http://schemas.microsoft.com/office/drawing/2014/main" id="{5D7DAE70-1AA4-7A0B-BD01-4B576C841A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80372" y="2327671"/>
            <a:ext cx="778272" cy="778272"/>
          </a:xfrm>
          <a:prstGeom prst="rect">
            <a:avLst/>
          </a:prstGeom>
        </p:spPr>
      </p:pic>
      <p:pic>
        <p:nvPicPr>
          <p:cNvPr id="22" name="Gráfico 21" descr="Lâmpada e engrenagem com preenchimento sólido">
            <a:extLst>
              <a:ext uri="{FF2B5EF4-FFF2-40B4-BE49-F238E27FC236}">
                <a16:creationId xmlns:a16="http://schemas.microsoft.com/office/drawing/2014/main" id="{A69B9A12-8774-C23B-F306-AC34D8AFDED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77641" y="1726863"/>
            <a:ext cx="778272" cy="77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99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D61B1E-2F1E-6893-E37F-5AFCD21AA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2800" b="1" dirty="0">
                <a:latin typeface="Calibri" panose="020F0502020204030204" pitchFamily="34" charset="0"/>
                <a:cs typeface="Calibri" panose="020F0502020204030204" pitchFamily="34" charset="0"/>
              </a:rPr>
              <a:t>AIVA</a:t>
            </a:r>
          </a:p>
        </p:txBody>
      </p:sp>
      <p:sp>
        <p:nvSpPr>
          <p:cNvPr id="10" name="Google Shape;949;p71">
            <a:extLst>
              <a:ext uri="{FF2B5EF4-FFF2-40B4-BE49-F238E27FC236}">
                <a16:creationId xmlns:a16="http://schemas.microsoft.com/office/drawing/2014/main" id="{FB675702-69EA-3745-9DD7-E018653A400E}"/>
              </a:ext>
            </a:extLst>
          </p:cNvPr>
          <p:cNvSpPr txBox="1">
            <a:spLocks/>
          </p:cNvSpPr>
          <p:nvPr/>
        </p:nvSpPr>
        <p:spPr>
          <a:xfrm>
            <a:off x="386306" y="2876879"/>
            <a:ext cx="1597200" cy="658801"/>
          </a:xfrm>
          <a:prstGeom prst="rect">
            <a:avLst/>
          </a:prstGeom>
          <a:noFill/>
          <a:ln>
            <a:noFill/>
          </a:ln>
          <a:effectLst>
            <a:outerShdw blurRad="42863" dist="9525" dir="5400000" algn="bl" rotWithShape="0">
              <a:schemeClr val="lt1">
                <a:alpha val="2500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nria Sans"/>
              <a:buChar char="⬥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nria Sans"/>
              <a:buChar char="⬦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Inria Sans"/>
              <a:buChar char="⬩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"/>
              <a:buChar char="●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"/>
              <a:buChar char="○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"/>
              <a:buChar char="■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"/>
              <a:buChar char="●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"/>
              <a:buChar char="○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400"/>
              <a:buFont typeface="Inria Sans"/>
              <a:buChar char="■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9pPr>
          </a:lstStyle>
          <a:p>
            <a:pPr marL="0" indent="0" algn="ctr">
              <a:buFont typeface="Inria Sans"/>
              <a:buNone/>
            </a:pPr>
            <a:r>
              <a:rPr lang="pt-PT" sz="1600" b="1" dirty="0">
                <a:latin typeface="Calibri" panose="020F0502020204030204" pitchFamily="34" charset="0"/>
                <a:cs typeface="Calibri" panose="020F0502020204030204" pitchFamily="34" charset="0"/>
              </a:rPr>
              <a:t>AIVA Technologies</a:t>
            </a:r>
            <a:endParaRPr lang="en-US" sz="2800" b="1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Google Shape;951;p71">
            <a:extLst>
              <a:ext uri="{FF2B5EF4-FFF2-40B4-BE49-F238E27FC236}">
                <a16:creationId xmlns:a16="http://schemas.microsoft.com/office/drawing/2014/main" id="{0DDA3EC0-A4F3-40E5-4E1E-2F48DA535DBB}"/>
              </a:ext>
            </a:extLst>
          </p:cNvPr>
          <p:cNvSpPr txBox="1">
            <a:spLocks/>
          </p:cNvSpPr>
          <p:nvPr/>
        </p:nvSpPr>
        <p:spPr>
          <a:xfrm>
            <a:off x="1974523" y="3453697"/>
            <a:ext cx="1882228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/>
            <a:r>
              <a:rPr lang="en" sz="1600" b="1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Sistema de geração de músicas</a:t>
            </a:r>
          </a:p>
          <a:p>
            <a:pPr algn="ctr"/>
            <a:endParaRPr lang="en-US" dirty="0"/>
          </a:p>
        </p:txBody>
      </p:sp>
      <p:sp>
        <p:nvSpPr>
          <p:cNvPr id="14" name="Google Shape;956;p71">
            <a:extLst>
              <a:ext uri="{FF2B5EF4-FFF2-40B4-BE49-F238E27FC236}">
                <a16:creationId xmlns:a16="http://schemas.microsoft.com/office/drawing/2014/main" id="{6A0704EE-3017-3E51-82F6-AA2E1A76155D}"/>
              </a:ext>
            </a:extLst>
          </p:cNvPr>
          <p:cNvSpPr/>
          <p:nvPr/>
        </p:nvSpPr>
        <p:spPr>
          <a:xfrm>
            <a:off x="661431" y="1487289"/>
            <a:ext cx="1230900" cy="1230900"/>
          </a:xfrm>
          <a:prstGeom prst="donut">
            <a:avLst>
              <a:gd name="adj" fmla="val 6912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956;p71">
            <a:extLst>
              <a:ext uri="{FF2B5EF4-FFF2-40B4-BE49-F238E27FC236}">
                <a16:creationId xmlns:a16="http://schemas.microsoft.com/office/drawing/2014/main" id="{CE1DEA78-EAB2-2087-5E06-FCAEDBA5E636}"/>
              </a:ext>
            </a:extLst>
          </p:cNvPr>
          <p:cNvSpPr/>
          <p:nvPr/>
        </p:nvSpPr>
        <p:spPr>
          <a:xfrm>
            <a:off x="2305548" y="2168693"/>
            <a:ext cx="1230900" cy="1230900"/>
          </a:xfrm>
          <a:prstGeom prst="donut">
            <a:avLst>
              <a:gd name="adj" fmla="val 6912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956;p71">
            <a:extLst>
              <a:ext uri="{FF2B5EF4-FFF2-40B4-BE49-F238E27FC236}">
                <a16:creationId xmlns:a16="http://schemas.microsoft.com/office/drawing/2014/main" id="{BEFF5A33-A0B9-C2D3-FE20-DB52F6D555CA}"/>
              </a:ext>
            </a:extLst>
          </p:cNvPr>
          <p:cNvSpPr/>
          <p:nvPr/>
        </p:nvSpPr>
        <p:spPr>
          <a:xfrm>
            <a:off x="4135637" y="1487289"/>
            <a:ext cx="1230900" cy="1230900"/>
          </a:xfrm>
          <a:prstGeom prst="donut">
            <a:avLst>
              <a:gd name="adj" fmla="val 6912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956;p71">
            <a:extLst>
              <a:ext uri="{FF2B5EF4-FFF2-40B4-BE49-F238E27FC236}">
                <a16:creationId xmlns:a16="http://schemas.microsoft.com/office/drawing/2014/main" id="{CAE83E04-8D95-1436-D31F-797489D702CE}"/>
              </a:ext>
            </a:extLst>
          </p:cNvPr>
          <p:cNvSpPr/>
          <p:nvPr/>
        </p:nvSpPr>
        <p:spPr>
          <a:xfrm>
            <a:off x="5920241" y="2106163"/>
            <a:ext cx="1230900" cy="1230900"/>
          </a:xfrm>
          <a:prstGeom prst="donut">
            <a:avLst>
              <a:gd name="adj" fmla="val 6912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956;p71">
            <a:extLst>
              <a:ext uri="{FF2B5EF4-FFF2-40B4-BE49-F238E27FC236}">
                <a16:creationId xmlns:a16="http://schemas.microsoft.com/office/drawing/2014/main" id="{47783785-5997-3DDD-C345-086FB9D5439A}"/>
              </a:ext>
            </a:extLst>
          </p:cNvPr>
          <p:cNvSpPr/>
          <p:nvPr/>
        </p:nvSpPr>
        <p:spPr>
          <a:xfrm>
            <a:off x="7526448" y="1487289"/>
            <a:ext cx="1230900" cy="1230900"/>
          </a:xfrm>
          <a:prstGeom prst="donut">
            <a:avLst>
              <a:gd name="adj" fmla="val 6912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Imagem 7" descr="Uma imagem com logótipo&#10;&#10;Descrição gerada automaticamente">
            <a:extLst>
              <a:ext uri="{FF2B5EF4-FFF2-40B4-BE49-F238E27FC236}">
                <a16:creationId xmlns:a16="http://schemas.microsoft.com/office/drawing/2014/main" id="{EBDC29D3-A791-EA84-5D34-FAD956286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8" y="1648180"/>
            <a:ext cx="930620" cy="930620"/>
          </a:xfrm>
          <a:prstGeom prst="rect">
            <a:avLst/>
          </a:prstGeom>
        </p:spPr>
      </p:pic>
      <p:sp>
        <p:nvSpPr>
          <p:cNvPr id="9" name="Hexágono 8">
            <a:extLst>
              <a:ext uri="{FF2B5EF4-FFF2-40B4-BE49-F238E27FC236}">
                <a16:creationId xmlns:a16="http://schemas.microsoft.com/office/drawing/2014/main" id="{1DC7580C-5E02-D4D8-DE65-A5102387E6B4}"/>
              </a:ext>
            </a:extLst>
          </p:cNvPr>
          <p:cNvSpPr/>
          <p:nvPr/>
        </p:nvSpPr>
        <p:spPr>
          <a:xfrm>
            <a:off x="8539200" y="4540780"/>
            <a:ext cx="552321" cy="439737"/>
          </a:xfrm>
          <a:prstGeom prst="hexag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13</a:t>
            </a:r>
          </a:p>
        </p:txBody>
      </p:sp>
      <p:sp>
        <p:nvSpPr>
          <p:cNvPr id="3" name="Google Shape;951;p71">
            <a:extLst>
              <a:ext uri="{FF2B5EF4-FFF2-40B4-BE49-F238E27FC236}">
                <a16:creationId xmlns:a16="http://schemas.microsoft.com/office/drawing/2014/main" id="{C8D7005B-A5AA-0145-475D-97D7F04F7E1D}"/>
              </a:ext>
            </a:extLst>
          </p:cNvPr>
          <p:cNvSpPr txBox="1">
            <a:spLocks/>
          </p:cNvSpPr>
          <p:nvPr/>
        </p:nvSpPr>
        <p:spPr>
          <a:xfrm>
            <a:off x="5645311" y="3402409"/>
            <a:ext cx="1882228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Permite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definir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parâmetros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como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 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ritmo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,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género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ou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instrumentos</a:t>
            </a:r>
            <a:endParaRPr lang="en" sz="1600" b="1" dirty="0" err="1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dirty="0"/>
          </a:p>
        </p:txBody>
      </p:sp>
      <p:sp>
        <p:nvSpPr>
          <p:cNvPr id="4" name="Google Shape;951;p71">
            <a:extLst>
              <a:ext uri="{FF2B5EF4-FFF2-40B4-BE49-F238E27FC236}">
                <a16:creationId xmlns:a16="http://schemas.microsoft.com/office/drawing/2014/main" id="{A7D1D07D-2D9A-4A5C-6B35-6B60AF489786}"/>
              </a:ext>
            </a:extLst>
          </p:cNvPr>
          <p:cNvSpPr txBox="1">
            <a:spLocks/>
          </p:cNvSpPr>
          <p:nvPr/>
        </p:nvSpPr>
        <p:spPr>
          <a:xfrm>
            <a:off x="3806253" y="2794273"/>
            <a:ext cx="1882228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Permite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ao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utilizador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 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criar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músicas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sem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conhecimento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musical </a:t>
            </a:r>
            <a:endParaRPr lang="en" sz="1600" b="1" dirty="0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dirty="0"/>
          </a:p>
        </p:txBody>
      </p:sp>
      <p:sp>
        <p:nvSpPr>
          <p:cNvPr id="18" name="Google Shape;951;p71">
            <a:extLst>
              <a:ext uri="{FF2B5EF4-FFF2-40B4-BE49-F238E27FC236}">
                <a16:creationId xmlns:a16="http://schemas.microsoft.com/office/drawing/2014/main" id="{C7F0D70C-4E83-3875-CA6C-A98E8714CA30}"/>
              </a:ext>
            </a:extLst>
          </p:cNvPr>
          <p:cNvSpPr txBox="1">
            <a:spLocks/>
          </p:cNvSpPr>
          <p:nvPr/>
        </p:nvSpPr>
        <p:spPr>
          <a:xfrm>
            <a:off x="7198618" y="2721005"/>
            <a:ext cx="1882228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Permite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aumentar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a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produtividade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de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produtores</a:t>
            </a:r>
            <a:r>
              <a:rPr lang="en" sz="1600" b="1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lang="en" sz="1600" b="1" dirty="0" err="1">
                <a:solidFill>
                  <a:schemeClr val="accent6"/>
                </a:solidFill>
                <a:latin typeface="Calibri"/>
                <a:cs typeface="Calibri"/>
              </a:rPr>
              <a:t>músicais</a:t>
            </a:r>
            <a:endParaRPr lang="en" sz="1600" b="1" dirty="0" err="1">
              <a:solidFill>
                <a:schemeClr val="accent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1" name="Gráfico 20" descr="Notação musical com preenchimento sólido">
            <a:extLst>
              <a:ext uri="{FF2B5EF4-FFF2-40B4-BE49-F238E27FC236}">
                <a16:creationId xmlns:a16="http://schemas.microsoft.com/office/drawing/2014/main" id="{92D0A14D-EB00-6934-45F2-8827C68226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5606" y="2329137"/>
            <a:ext cx="778272" cy="778272"/>
          </a:xfrm>
          <a:prstGeom prst="rect">
            <a:avLst/>
          </a:prstGeom>
        </p:spPr>
      </p:pic>
      <p:pic>
        <p:nvPicPr>
          <p:cNvPr id="23" name="Gráfico 22" descr="Nota musical com preenchimento sólido">
            <a:extLst>
              <a:ext uri="{FF2B5EF4-FFF2-40B4-BE49-F238E27FC236}">
                <a16:creationId xmlns:a16="http://schemas.microsoft.com/office/drawing/2014/main" id="{A9F848D4-C9F5-29F5-CB05-E05EE31546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33433" y="2395079"/>
            <a:ext cx="778272" cy="778272"/>
          </a:xfrm>
          <a:prstGeom prst="rect">
            <a:avLst/>
          </a:prstGeom>
        </p:spPr>
      </p:pic>
      <p:pic>
        <p:nvPicPr>
          <p:cNvPr id="25" name="Gráfico 24" descr="Ponto de Interrogação com preenchimento sólido">
            <a:extLst>
              <a:ext uri="{FF2B5EF4-FFF2-40B4-BE49-F238E27FC236}">
                <a16:creationId xmlns:a16="http://schemas.microsoft.com/office/drawing/2014/main" id="{ECF1B489-5881-DB8B-A681-ED7A4F7AF9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57837" y="1713675"/>
            <a:ext cx="778272" cy="778272"/>
          </a:xfrm>
          <a:prstGeom prst="rect">
            <a:avLst/>
          </a:prstGeom>
        </p:spPr>
      </p:pic>
      <p:pic>
        <p:nvPicPr>
          <p:cNvPr id="29" name="Gráfico 28" descr="Tendência de subida com preenchimento sólido">
            <a:extLst>
              <a:ext uri="{FF2B5EF4-FFF2-40B4-BE49-F238E27FC236}">
                <a16:creationId xmlns:a16="http://schemas.microsoft.com/office/drawing/2014/main" id="{7B7AE5C5-C416-FE06-F60F-724B7D0AFE4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50203" y="1728329"/>
            <a:ext cx="778272" cy="77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1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E98091-3619-016F-76DB-D954B5E0B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2800" b="1" dirty="0">
                <a:latin typeface="Calibri" panose="020F0502020204030204" pitchFamily="34" charset="0"/>
                <a:cs typeface="Calibri" panose="020F0502020204030204" pitchFamily="34" charset="0"/>
              </a:rPr>
              <a:t>ÉTICA E RESPONSABILIDADE</a:t>
            </a:r>
          </a:p>
        </p:txBody>
      </p:sp>
      <p:sp>
        <p:nvSpPr>
          <p:cNvPr id="10" name="Google Shape;581;p41">
            <a:extLst>
              <a:ext uri="{FF2B5EF4-FFF2-40B4-BE49-F238E27FC236}">
                <a16:creationId xmlns:a16="http://schemas.microsoft.com/office/drawing/2014/main" id="{B5AB0834-1292-D562-A837-513F796640F9}"/>
              </a:ext>
            </a:extLst>
          </p:cNvPr>
          <p:cNvSpPr/>
          <p:nvPr/>
        </p:nvSpPr>
        <p:spPr>
          <a:xfrm>
            <a:off x="1028700" y="1592100"/>
            <a:ext cx="3810050" cy="1367700"/>
          </a:xfrm>
          <a:prstGeom prst="rect">
            <a:avLst/>
          </a:prstGeom>
          <a:solidFill>
            <a:srgbClr val="082A44">
              <a:alpha val="17320"/>
            </a:srgbClr>
          </a:solidFill>
          <a:ln>
            <a:noFill/>
          </a:ln>
        </p:spPr>
        <p:txBody>
          <a:bodyPr spcFirstLastPara="1" wrap="square" lIns="91425" tIns="91425" rIns="1371600" bIns="91425" anchor="t" anchorCtr="0">
            <a:noAutofit/>
          </a:bodyPr>
          <a:lstStyle/>
          <a:p>
            <a:r>
              <a:rPr lang="en" sz="2000" b="1" dirty="0">
                <a:solidFill>
                  <a:schemeClr val="dk1"/>
                </a:solidFill>
                <a:latin typeface="Calibri"/>
                <a:ea typeface="Inria Sans"/>
                <a:cs typeface="Calibri"/>
                <a:sym typeface="Inria Sans"/>
              </a:rPr>
              <a:t>DIREITOS DE AUTOR</a:t>
            </a:r>
            <a:endParaRPr lang="en" sz="2000" b="1" dirty="0">
              <a:solidFill>
                <a:schemeClr val="dk1"/>
              </a:solidFill>
              <a:latin typeface="Calibri"/>
              <a:ea typeface="Inria Sans"/>
              <a:cs typeface="Calibri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PT" b="1" dirty="0">
                <a:solidFill>
                  <a:schemeClr val="tx1"/>
                </a:solidFill>
                <a:latin typeface="Calibri"/>
                <a:cs typeface="Calibri"/>
              </a:rPr>
              <a:t>A quem pertencem as imagens, músicas ou vídeos produzidos por modelos generativos?</a:t>
            </a:r>
            <a:endParaRPr lang="pt-PT" dirty="0">
              <a:solidFill>
                <a:schemeClr val="tx1"/>
              </a:solidFill>
            </a:endParaRPr>
          </a:p>
        </p:txBody>
      </p:sp>
      <p:sp>
        <p:nvSpPr>
          <p:cNvPr id="11" name="Google Shape;582;p41">
            <a:extLst>
              <a:ext uri="{FF2B5EF4-FFF2-40B4-BE49-F238E27FC236}">
                <a16:creationId xmlns:a16="http://schemas.microsoft.com/office/drawing/2014/main" id="{7E0BD59B-40D9-E18F-1EBE-B6E6A3EBE0DA}"/>
              </a:ext>
            </a:extLst>
          </p:cNvPr>
          <p:cNvSpPr/>
          <p:nvPr/>
        </p:nvSpPr>
        <p:spPr>
          <a:xfrm>
            <a:off x="4988872" y="1592100"/>
            <a:ext cx="3630900" cy="1367700"/>
          </a:xfrm>
          <a:prstGeom prst="rect">
            <a:avLst/>
          </a:prstGeom>
          <a:solidFill>
            <a:srgbClr val="082A44">
              <a:alpha val="17320"/>
            </a:srgbClr>
          </a:solidFill>
          <a:ln>
            <a:noFill/>
          </a:ln>
        </p:spPr>
        <p:txBody>
          <a:bodyPr spcFirstLastPara="1" wrap="square" lIns="1371600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dk1"/>
                </a:solidFill>
                <a:latin typeface="Calibri"/>
                <a:ea typeface="Inria Sans"/>
                <a:cs typeface="Calibri"/>
                <a:sym typeface="Inria Sans"/>
              </a:rPr>
              <a:t>DESINFORMAÇÃO</a:t>
            </a:r>
            <a:endParaRPr b="1" dirty="0">
              <a:solidFill>
                <a:schemeClr val="dk1"/>
              </a:solidFill>
              <a:latin typeface="Calibri" panose="020F0502020204030204" pitchFamily="34" charset="0"/>
              <a:ea typeface="Inria Sans"/>
              <a:cs typeface="Calibri" panose="020F0502020204030204" pitchFamily="34" charset="0"/>
              <a:sym typeface="Inria Sans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" b="1" dirty="0" err="1">
                <a:solidFill>
                  <a:schemeClr val="tx1"/>
                </a:solidFill>
                <a:latin typeface="Calibri"/>
                <a:cs typeface="Calibri"/>
                <a:sym typeface="Inria Sans"/>
              </a:rPr>
              <a:t>Capacidade</a:t>
            </a:r>
            <a:r>
              <a:rPr lang="en" b="1" dirty="0">
                <a:solidFill>
                  <a:schemeClr val="tx1"/>
                </a:solidFill>
                <a:latin typeface="Calibri"/>
                <a:cs typeface="Calibri"/>
                <a:sym typeface="Inria Sans"/>
              </a:rPr>
              <a:t> de </a:t>
            </a:r>
            <a:r>
              <a:rPr lang="en" b="1" dirty="0" err="1">
                <a:solidFill>
                  <a:schemeClr val="tx1"/>
                </a:solidFill>
                <a:latin typeface="Calibri"/>
                <a:cs typeface="Calibri"/>
                <a:sym typeface="Inria Sans"/>
              </a:rPr>
              <a:t>serem</a:t>
            </a:r>
            <a:r>
              <a:rPr lang="en" b="1" dirty="0">
                <a:solidFill>
                  <a:schemeClr val="tx1"/>
                </a:solidFill>
                <a:latin typeface="Calibri"/>
                <a:cs typeface="Calibri"/>
                <a:sym typeface="Inria Sans"/>
              </a:rPr>
              <a:t> </a:t>
            </a:r>
            <a:r>
              <a:rPr lang="en" b="1" dirty="0" err="1">
                <a:solidFill>
                  <a:schemeClr val="tx1"/>
                </a:solidFill>
                <a:latin typeface="Calibri"/>
                <a:cs typeface="Calibri"/>
                <a:sym typeface="Inria Sans"/>
              </a:rPr>
              <a:t>utilizados</a:t>
            </a:r>
            <a:r>
              <a:rPr lang="en" b="1" dirty="0">
                <a:solidFill>
                  <a:schemeClr val="tx1"/>
                </a:solidFill>
                <a:latin typeface="Calibri"/>
                <a:cs typeface="Calibri"/>
                <a:sym typeface="Inria Sans"/>
              </a:rPr>
              <a:t> </a:t>
            </a:r>
            <a:r>
              <a:rPr lang="en" b="1" dirty="0" err="1">
                <a:solidFill>
                  <a:schemeClr val="tx1"/>
                </a:solidFill>
                <a:latin typeface="Calibri"/>
                <a:cs typeface="Calibri"/>
                <a:sym typeface="Inria Sans"/>
              </a:rPr>
              <a:t>como</a:t>
            </a:r>
            <a:r>
              <a:rPr lang="en" b="1" dirty="0">
                <a:solidFill>
                  <a:schemeClr val="tx1"/>
                </a:solidFill>
                <a:latin typeface="Calibri"/>
                <a:cs typeface="Calibri"/>
                <a:sym typeface="Inria Sans"/>
              </a:rPr>
              <a:t> </a:t>
            </a:r>
            <a:r>
              <a:rPr lang="en" b="1" dirty="0" err="1">
                <a:solidFill>
                  <a:schemeClr val="tx1"/>
                </a:solidFill>
                <a:latin typeface="Calibri"/>
                <a:cs typeface="Calibri"/>
                <a:sym typeface="Inria Sans"/>
              </a:rPr>
              <a:t>arma</a:t>
            </a:r>
            <a:r>
              <a:rPr lang="en" b="1" dirty="0">
                <a:solidFill>
                  <a:schemeClr val="tx1"/>
                </a:solidFill>
                <a:latin typeface="Calibri"/>
                <a:cs typeface="Calibri"/>
                <a:sym typeface="Inria Sans"/>
              </a:rPr>
              <a:t> de </a:t>
            </a:r>
            <a:r>
              <a:rPr lang="en" b="1" dirty="0" err="1">
                <a:solidFill>
                  <a:schemeClr val="tx1"/>
                </a:solidFill>
                <a:latin typeface="Calibri"/>
                <a:cs typeface="Calibri"/>
                <a:sym typeface="Inria Sans"/>
              </a:rPr>
              <a:t>desinformação</a:t>
            </a:r>
            <a:r>
              <a:rPr lang="en" b="1" dirty="0">
                <a:solidFill>
                  <a:schemeClr val="tx1"/>
                </a:solidFill>
                <a:latin typeface="Calibri"/>
                <a:cs typeface="Calibri"/>
                <a:sym typeface="Inria Sans"/>
              </a:rPr>
              <a:t> e propaganda</a:t>
            </a:r>
            <a:endParaRPr lang="en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2" name="Google Shape;583;p41">
            <a:extLst>
              <a:ext uri="{FF2B5EF4-FFF2-40B4-BE49-F238E27FC236}">
                <a16:creationId xmlns:a16="http://schemas.microsoft.com/office/drawing/2014/main" id="{C9F0895B-143D-F520-0F05-0579D595040E}"/>
              </a:ext>
            </a:extLst>
          </p:cNvPr>
          <p:cNvSpPr/>
          <p:nvPr/>
        </p:nvSpPr>
        <p:spPr>
          <a:xfrm>
            <a:off x="1028700" y="3110004"/>
            <a:ext cx="3810050" cy="1367700"/>
          </a:xfrm>
          <a:prstGeom prst="rect">
            <a:avLst/>
          </a:prstGeom>
          <a:solidFill>
            <a:srgbClr val="082A44">
              <a:alpha val="17320"/>
            </a:srgbClr>
          </a:solidFill>
          <a:ln>
            <a:noFill/>
          </a:ln>
        </p:spPr>
        <p:txBody>
          <a:bodyPr spcFirstLastPara="1" wrap="square" lIns="91425" tIns="91425" rIns="1371600" bIns="91425" anchor="b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en" b="1" dirty="0" err="1">
                <a:solidFill>
                  <a:schemeClr val="tx1"/>
                </a:solidFill>
                <a:latin typeface="Calibri"/>
                <a:cs typeface="Calibri"/>
              </a:rPr>
              <a:t>Garantir</a:t>
            </a:r>
            <a:r>
              <a:rPr lang="en" b="1" dirty="0">
                <a:solidFill>
                  <a:schemeClr val="tx1"/>
                </a:solidFill>
                <a:latin typeface="Calibri"/>
                <a:cs typeface="Calibri"/>
              </a:rPr>
              <a:t> a </a:t>
            </a:r>
            <a:r>
              <a:rPr lang="en" b="1" dirty="0" err="1">
                <a:solidFill>
                  <a:schemeClr val="tx1"/>
                </a:solidFill>
                <a:latin typeface="Calibri"/>
                <a:cs typeface="Calibri"/>
              </a:rPr>
              <a:t>qualidade</a:t>
            </a:r>
            <a:r>
              <a:rPr lang="en" b="1" dirty="0">
                <a:solidFill>
                  <a:schemeClr val="tx1"/>
                </a:solidFill>
                <a:latin typeface="Calibri"/>
                <a:cs typeface="Calibri"/>
              </a:rPr>
              <a:t> de dados de </a:t>
            </a:r>
            <a:r>
              <a:rPr lang="en" b="1" dirty="0" err="1">
                <a:solidFill>
                  <a:schemeClr val="tx1"/>
                </a:solidFill>
                <a:latin typeface="Calibri"/>
                <a:cs typeface="Calibri"/>
              </a:rPr>
              <a:t>treino</a:t>
            </a:r>
            <a:r>
              <a:rPr lang="en" b="1" dirty="0">
                <a:solidFill>
                  <a:schemeClr val="tx1"/>
                </a:solidFill>
                <a:latin typeface="Calibri"/>
                <a:cs typeface="Calibri"/>
              </a:rPr>
              <a:t> </a:t>
            </a:r>
            <a:r>
              <a:rPr lang="en" b="1" dirty="0" err="1">
                <a:solidFill>
                  <a:schemeClr val="tx1"/>
                </a:solidFill>
                <a:latin typeface="Calibri"/>
                <a:cs typeface="Calibri"/>
              </a:rPr>
              <a:t>sensíveis</a:t>
            </a:r>
            <a:r>
              <a:rPr lang="en" b="1" dirty="0">
                <a:solidFill>
                  <a:schemeClr val="tx1"/>
                </a:solidFill>
                <a:latin typeface="Calibri"/>
                <a:cs typeface="Calibri"/>
              </a:rPr>
              <a:t> </a:t>
            </a:r>
            <a:r>
              <a:rPr lang="en" b="1" dirty="0" err="1">
                <a:solidFill>
                  <a:schemeClr val="tx1"/>
                </a:solidFill>
                <a:latin typeface="Calibri"/>
                <a:cs typeface="Calibri"/>
              </a:rPr>
              <a:t>como</a:t>
            </a:r>
            <a:r>
              <a:rPr lang="en" b="1" dirty="0">
                <a:solidFill>
                  <a:schemeClr val="tx1"/>
                </a:solidFill>
                <a:latin typeface="Calibri"/>
                <a:cs typeface="Calibri"/>
              </a:rPr>
              <a:t> </a:t>
            </a:r>
            <a:r>
              <a:rPr lang="en" b="1" dirty="0" err="1">
                <a:solidFill>
                  <a:schemeClr val="tx1"/>
                </a:solidFill>
                <a:latin typeface="Calibri"/>
                <a:cs typeface="Calibri"/>
              </a:rPr>
              <a:t>segmentação</a:t>
            </a:r>
            <a:r>
              <a:rPr lang="en" b="1" dirty="0">
                <a:solidFill>
                  <a:schemeClr val="tx1"/>
                </a:solidFill>
                <a:latin typeface="Calibri"/>
                <a:cs typeface="Calibri"/>
              </a:rPr>
              <a:t> de imagens </a:t>
            </a:r>
            <a:r>
              <a:rPr lang="en" b="1" dirty="0" err="1">
                <a:solidFill>
                  <a:schemeClr val="tx1"/>
                </a:solidFill>
                <a:latin typeface="Calibri"/>
                <a:cs typeface="Calibri"/>
              </a:rPr>
              <a:t>médicas</a:t>
            </a:r>
            <a:endParaRPr lang="pt-PT" dirty="0" err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r>
              <a:rPr lang="en" sz="1800" b="1" dirty="0">
                <a:solidFill>
                  <a:schemeClr val="dk1"/>
                </a:solidFill>
                <a:latin typeface="Calibri"/>
                <a:cs typeface="Calibri"/>
              </a:rPr>
              <a:t>QUALIDADE</a:t>
            </a:r>
            <a:endParaRPr lang="pt-PT" dirty="0">
              <a:solidFill>
                <a:schemeClr val="dk1"/>
              </a:solidFill>
              <a:latin typeface="Calibri" panose="020F0502020204030204" pitchFamily="34" charset="0"/>
              <a:ea typeface="Inria Sans"/>
              <a:cs typeface="Calibri" panose="020F0502020204030204" pitchFamily="34" charset="0"/>
            </a:endParaRPr>
          </a:p>
        </p:txBody>
      </p:sp>
      <p:sp>
        <p:nvSpPr>
          <p:cNvPr id="13" name="Google Shape;584;p41">
            <a:extLst>
              <a:ext uri="{FF2B5EF4-FFF2-40B4-BE49-F238E27FC236}">
                <a16:creationId xmlns:a16="http://schemas.microsoft.com/office/drawing/2014/main" id="{21C890BD-6833-A36C-47D1-3B7ECE817357}"/>
              </a:ext>
            </a:extLst>
          </p:cNvPr>
          <p:cNvSpPr/>
          <p:nvPr/>
        </p:nvSpPr>
        <p:spPr>
          <a:xfrm>
            <a:off x="4988872" y="3110004"/>
            <a:ext cx="3630900" cy="1367700"/>
          </a:xfrm>
          <a:prstGeom prst="rect">
            <a:avLst/>
          </a:prstGeom>
          <a:solidFill>
            <a:srgbClr val="082A44">
              <a:alpha val="17320"/>
            </a:srgbClr>
          </a:solidFill>
          <a:ln>
            <a:noFill/>
          </a:ln>
        </p:spPr>
        <p:txBody>
          <a:bodyPr spcFirstLastPara="1" wrap="square" lIns="1371600" tIns="91425" rIns="91425" bIns="91425" anchor="b" anchorCtr="0">
            <a:noAutofit/>
          </a:bodyPr>
          <a:lstStyle/>
          <a:p>
            <a:pPr algn="r">
              <a:buClr>
                <a:schemeClr val="dk1"/>
              </a:buClr>
              <a:buSzPts val="1100"/>
            </a:pPr>
            <a:r>
              <a:rPr lang="pt-PT" sz="1300" b="1" dirty="0">
                <a:solidFill>
                  <a:schemeClr val="tx1"/>
                </a:solidFill>
                <a:latin typeface="Calibri"/>
                <a:cs typeface="Calibri"/>
              </a:rPr>
              <a:t>Conteúdos gerados por estes modelos não podem ser tendenciosos ou discriminatórios </a:t>
            </a:r>
            <a:r>
              <a:rPr lang="en" sz="1800" b="1" dirty="0">
                <a:solidFill>
                  <a:schemeClr val="dk1"/>
                </a:solidFill>
                <a:latin typeface="Calibri"/>
                <a:ea typeface="Inria Sans"/>
                <a:cs typeface="Calibri"/>
                <a:sym typeface="Inria Sans"/>
              </a:rPr>
              <a:t>RESPONSABILIDADE</a:t>
            </a:r>
            <a:endParaRPr dirty="0">
              <a:solidFill>
                <a:schemeClr val="dk1"/>
              </a:solidFill>
              <a:latin typeface="Calibri"/>
              <a:ea typeface="Inria Sans"/>
              <a:cs typeface="Calibri"/>
              <a:sym typeface="Inria Sans"/>
            </a:endParaRPr>
          </a:p>
        </p:txBody>
      </p:sp>
      <p:sp>
        <p:nvSpPr>
          <p:cNvPr id="14" name="Google Shape;585;p41">
            <a:extLst>
              <a:ext uri="{FF2B5EF4-FFF2-40B4-BE49-F238E27FC236}">
                <a16:creationId xmlns:a16="http://schemas.microsoft.com/office/drawing/2014/main" id="{65472036-9430-610F-E673-D994099B5B23}"/>
              </a:ext>
            </a:extLst>
          </p:cNvPr>
          <p:cNvSpPr/>
          <p:nvPr/>
        </p:nvSpPr>
        <p:spPr>
          <a:xfrm>
            <a:off x="3796421" y="1915783"/>
            <a:ext cx="2086500" cy="20865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586;p41">
            <a:extLst>
              <a:ext uri="{FF2B5EF4-FFF2-40B4-BE49-F238E27FC236}">
                <a16:creationId xmlns:a16="http://schemas.microsoft.com/office/drawing/2014/main" id="{20447EDB-7E1B-3023-C378-71AA725D6DFD}"/>
              </a:ext>
            </a:extLst>
          </p:cNvPr>
          <p:cNvSpPr/>
          <p:nvPr/>
        </p:nvSpPr>
        <p:spPr>
          <a:xfrm rot="5400000">
            <a:off x="3946747" y="1915783"/>
            <a:ext cx="2086500" cy="20865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587;p41">
            <a:extLst>
              <a:ext uri="{FF2B5EF4-FFF2-40B4-BE49-F238E27FC236}">
                <a16:creationId xmlns:a16="http://schemas.microsoft.com/office/drawing/2014/main" id="{754DD274-CF58-0E80-2FD4-6D9ED1C5250B}"/>
              </a:ext>
            </a:extLst>
          </p:cNvPr>
          <p:cNvSpPr/>
          <p:nvPr/>
        </p:nvSpPr>
        <p:spPr>
          <a:xfrm rot="10800000">
            <a:off x="3946747" y="2067267"/>
            <a:ext cx="2086500" cy="20865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588;p41">
            <a:extLst>
              <a:ext uri="{FF2B5EF4-FFF2-40B4-BE49-F238E27FC236}">
                <a16:creationId xmlns:a16="http://schemas.microsoft.com/office/drawing/2014/main" id="{215E25F6-F371-9C47-9747-C9B5150DC25E}"/>
              </a:ext>
            </a:extLst>
          </p:cNvPr>
          <p:cNvSpPr/>
          <p:nvPr/>
        </p:nvSpPr>
        <p:spPr>
          <a:xfrm rot="-5400000">
            <a:off x="3796421" y="2067267"/>
            <a:ext cx="2086500" cy="20865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589;p41">
            <a:extLst>
              <a:ext uri="{FF2B5EF4-FFF2-40B4-BE49-F238E27FC236}">
                <a16:creationId xmlns:a16="http://schemas.microsoft.com/office/drawing/2014/main" id="{B47C2EA7-36AD-4EC9-D9FF-3A06874E57D3}"/>
              </a:ext>
            </a:extLst>
          </p:cNvPr>
          <p:cNvSpPr/>
          <p:nvPr/>
        </p:nvSpPr>
        <p:spPr>
          <a:xfrm>
            <a:off x="4315874" y="2356449"/>
            <a:ext cx="310425" cy="367976"/>
          </a:xfrm>
          <a:prstGeom prst="rect">
            <a:avLst/>
          </a:prstGeom>
        </p:spPr>
        <p:txBody>
          <a:bodyPr lIns="91440" tIns="45720" rIns="91440" bIns="45720" numCol="1" anchor="t">
            <a:prstTxWarp prst="textPlain">
              <a:avLst/>
            </a:prstTxWarp>
          </a:bodyPr>
          <a:lstStyle/>
          <a:p>
            <a:pPr lvl="0" algn="ctr"/>
            <a:r>
              <a:rPr lang="pt-PT" b="1" dirty="0">
                <a:solidFill>
                  <a:schemeClr val="accent4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endParaRPr lang="pt-PT" b="1" i="0" dirty="0">
              <a:ln>
                <a:noFill/>
              </a:ln>
              <a:solidFill>
                <a:schemeClr val="accent4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Google Shape;590;p41">
            <a:extLst>
              <a:ext uri="{FF2B5EF4-FFF2-40B4-BE49-F238E27FC236}">
                <a16:creationId xmlns:a16="http://schemas.microsoft.com/office/drawing/2014/main" id="{AFF8459C-8B34-7833-9DB5-2A774FB10259}"/>
              </a:ext>
            </a:extLst>
          </p:cNvPr>
          <p:cNvSpPr/>
          <p:nvPr/>
        </p:nvSpPr>
        <p:spPr>
          <a:xfrm>
            <a:off x="5216207" y="2357652"/>
            <a:ext cx="296438" cy="366773"/>
          </a:xfrm>
          <a:prstGeom prst="rect">
            <a:avLst/>
          </a:prstGeom>
        </p:spPr>
        <p:txBody>
          <a:bodyPr lIns="91440" tIns="45720" rIns="91440" bIns="45720" numCol="1" anchor="t">
            <a:prstTxWarp prst="textPlain">
              <a:avLst/>
            </a:prstTxWarp>
          </a:bodyPr>
          <a:lstStyle/>
          <a:p>
            <a:pPr lvl="0" algn="ctr"/>
            <a:r>
              <a:rPr lang="pt-PT" b="1" dirty="0">
                <a:solidFill>
                  <a:schemeClr val="accent4">
                    <a:lumMod val="65000"/>
                  </a:schemeClr>
                </a:solidFill>
                <a:latin typeface="Saira Semi Condensed"/>
              </a:rPr>
              <a:t>D</a:t>
            </a:r>
            <a:endParaRPr lang="pt-PT" b="1" i="0" dirty="0">
              <a:ln>
                <a:noFill/>
              </a:ln>
              <a:solidFill>
                <a:schemeClr val="accent4">
                  <a:lumMod val="65000"/>
                </a:schemeClr>
              </a:solidFill>
              <a:latin typeface="Saira Semi Condensed"/>
            </a:endParaRPr>
          </a:p>
        </p:txBody>
      </p:sp>
      <p:sp>
        <p:nvSpPr>
          <p:cNvPr id="20" name="Google Shape;591;p41">
            <a:extLst>
              <a:ext uri="{FF2B5EF4-FFF2-40B4-BE49-F238E27FC236}">
                <a16:creationId xmlns:a16="http://schemas.microsoft.com/office/drawing/2014/main" id="{26D5D94B-962B-B2D2-9F7D-839CFCACA439}"/>
              </a:ext>
            </a:extLst>
          </p:cNvPr>
          <p:cNvSpPr/>
          <p:nvPr/>
        </p:nvSpPr>
        <p:spPr>
          <a:xfrm>
            <a:off x="4309680" y="3305991"/>
            <a:ext cx="276154" cy="375302"/>
          </a:xfrm>
          <a:prstGeom prst="rect">
            <a:avLst/>
          </a:prstGeom>
        </p:spPr>
        <p:txBody>
          <a:bodyPr lIns="91440" tIns="45720" rIns="91440" bIns="45720" numCol="1" anchor="t">
            <a:prstTxWarp prst="textPlain">
              <a:avLst/>
            </a:prstTxWarp>
          </a:bodyPr>
          <a:lstStyle/>
          <a:p>
            <a:pPr lvl="0" algn="ctr"/>
            <a:r>
              <a:rPr lang="pt-PT" b="1" dirty="0">
                <a:solidFill>
                  <a:schemeClr val="accent4">
                    <a:lumMod val="65000"/>
                  </a:schemeClr>
                </a:solidFill>
                <a:latin typeface="Calibri"/>
                <a:cs typeface="Calibri"/>
              </a:rPr>
              <a:t>Q</a:t>
            </a:r>
            <a:endParaRPr b="1" i="0" dirty="0">
              <a:ln>
                <a:noFill/>
              </a:ln>
              <a:solidFill>
                <a:schemeClr val="accent4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Google Shape;592;p41">
            <a:extLst>
              <a:ext uri="{FF2B5EF4-FFF2-40B4-BE49-F238E27FC236}">
                <a16:creationId xmlns:a16="http://schemas.microsoft.com/office/drawing/2014/main" id="{E6F5F352-200B-B72B-215A-BF16276E7C30}"/>
              </a:ext>
            </a:extLst>
          </p:cNvPr>
          <p:cNvSpPr/>
          <p:nvPr/>
        </p:nvSpPr>
        <p:spPr>
          <a:xfrm>
            <a:off x="5314832" y="3312654"/>
            <a:ext cx="256428" cy="36677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pt-PT" b="1" dirty="0">
                <a:solidFill>
                  <a:schemeClr val="accent4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b="1" i="0" dirty="0">
              <a:ln>
                <a:noFill/>
              </a:ln>
              <a:solidFill>
                <a:schemeClr val="accent4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Hexágono 21">
            <a:extLst>
              <a:ext uri="{FF2B5EF4-FFF2-40B4-BE49-F238E27FC236}">
                <a16:creationId xmlns:a16="http://schemas.microsoft.com/office/drawing/2014/main" id="{002EBBB7-3A32-B11D-A98B-ECAD7ED51E0A}"/>
              </a:ext>
            </a:extLst>
          </p:cNvPr>
          <p:cNvSpPr/>
          <p:nvPr/>
        </p:nvSpPr>
        <p:spPr>
          <a:xfrm>
            <a:off x="8539200" y="4540780"/>
            <a:ext cx="552321" cy="439737"/>
          </a:xfrm>
          <a:prstGeom prst="hexag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337173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462;p34">
            <a:extLst>
              <a:ext uri="{FF2B5EF4-FFF2-40B4-BE49-F238E27FC236}">
                <a16:creationId xmlns:a16="http://schemas.microsoft.com/office/drawing/2014/main" id="{5DD7F42B-B951-7C20-C699-076CD702D6EE}"/>
              </a:ext>
            </a:extLst>
          </p:cNvPr>
          <p:cNvSpPr txBox="1">
            <a:spLocks/>
          </p:cNvSpPr>
          <p:nvPr/>
        </p:nvSpPr>
        <p:spPr>
          <a:xfrm>
            <a:off x="834842" y="1500524"/>
            <a:ext cx="4170625" cy="697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 Medium"/>
              <a:buNone/>
              <a:defRPr sz="3500" b="0" i="0" u="none" strike="noStrike" cap="none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 Medium"/>
              <a:buNone/>
              <a:defRPr sz="3500" b="0" i="0" u="none" strike="noStrike" cap="none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 Medium"/>
              <a:buNone/>
              <a:defRPr sz="3500" b="0" i="0" u="none" strike="noStrike" cap="none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 Medium"/>
              <a:buNone/>
              <a:defRPr sz="3500" b="0" i="0" u="none" strike="noStrike" cap="none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 Medium"/>
              <a:buNone/>
              <a:defRPr sz="3500" b="0" i="0" u="none" strike="noStrike" cap="none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 Medium"/>
              <a:buNone/>
              <a:defRPr sz="3500" b="0" i="0" u="none" strike="noStrike" cap="none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 Medium"/>
              <a:buNone/>
              <a:defRPr sz="3500" b="0" i="0" u="none" strike="noStrike" cap="none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 Medium"/>
              <a:buNone/>
              <a:defRPr sz="3500" b="0" i="0" u="none" strike="noStrike" cap="none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 Medium"/>
              <a:buNone/>
              <a:defRPr sz="3500" b="0" i="0" u="none" strike="noStrike" cap="none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pPr algn="ctr"/>
            <a:r>
              <a:rPr lang="pt-PT" sz="4400" b="1" dirty="0">
                <a:latin typeface="Calibri" panose="020F0502020204030204" pitchFamily="34" charset="0"/>
                <a:cs typeface="Calibri" panose="020F0502020204030204" pitchFamily="34" charset="0"/>
              </a:rPr>
              <a:t>OBRIGADO!</a:t>
            </a:r>
            <a:endParaRPr lang="pt-PT" sz="6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Google Shape;463;p34">
            <a:extLst>
              <a:ext uri="{FF2B5EF4-FFF2-40B4-BE49-F238E27FC236}">
                <a16:creationId xmlns:a16="http://schemas.microsoft.com/office/drawing/2014/main" id="{35745BA5-8D35-C652-ADC6-39EE2F3950C8}"/>
              </a:ext>
            </a:extLst>
          </p:cNvPr>
          <p:cNvSpPr txBox="1">
            <a:spLocks/>
          </p:cNvSpPr>
          <p:nvPr/>
        </p:nvSpPr>
        <p:spPr>
          <a:xfrm>
            <a:off x="1570360" y="2197572"/>
            <a:ext cx="3336920" cy="2209835"/>
          </a:xfrm>
          <a:prstGeom prst="rect">
            <a:avLst/>
          </a:prstGeom>
          <a:noFill/>
          <a:ln>
            <a:noFill/>
          </a:ln>
          <a:effectLst>
            <a:outerShdw blurRad="42863" dist="9525" dir="5400000" algn="bl" rotWithShape="0">
              <a:schemeClr val="lt1">
                <a:alpha val="25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nria Sans"/>
              <a:buChar char="⬥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nria Sans"/>
              <a:buChar char="⬦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Inria Sans"/>
              <a:buChar char="⬩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"/>
              <a:buChar char="●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"/>
              <a:buChar char="○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"/>
              <a:buChar char="■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"/>
              <a:buChar char="●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ria Sans"/>
              <a:buChar char="○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400"/>
              <a:buFont typeface="Inria Sans"/>
              <a:buChar char="■"/>
              <a:defRPr sz="2400" b="0" i="0" u="none" strike="noStrike" cap="none">
                <a:solidFill>
                  <a:schemeClr val="dk1"/>
                </a:solidFill>
                <a:latin typeface="Inria Sans"/>
                <a:ea typeface="Inria Sans"/>
                <a:cs typeface="Inria Sans"/>
                <a:sym typeface="Inria Sans"/>
              </a:defRPr>
            </a:lvl9pPr>
          </a:lstStyle>
          <a:p>
            <a:pPr marL="114300" indent="0">
              <a:spcBef>
                <a:spcPts val="600"/>
              </a:spcBef>
              <a:buNone/>
            </a:pPr>
            <a:r>
              <a:rPr lang="en-US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Trabalho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realizado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>
              <a:spcBef>
                <a:spcPts val="600"/>
              </a:spcBef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Francisco Reis Izquierdo PG50384</a:t>
            </a:r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PT" sz="1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José Pedro Martins Magalhães PG50528</a:t>
            </a:r>
            <a:endParaRPr lang="en-US" sz="20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Google Shape;2243;p61">
            <a:extLst>
              <a:ext uri="{FF2B5EF4-FFF2-40B4-BE49-F238E27FC236}">
                <a16:creationId xmlns:a16="http://schemas.microsoft.com/office/drawing/2014/main" id="{A478AE3B-30F5-E53E-9091-9B1FE9B20FA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48636" r="11540"/>
          <a:stretch/>
        </p:blipFill>
        <p:spPr>
          <a:xfrm>
            <a:off x="5502525" y="69408"/>
            <a:ext cx="3641477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44900441"/>
      </p:ext>
    </p:extLst>
  </p:cSld>
  <p:clrMapOvr>
    <a:masterClrMapping/>
  </p:clrMapOvr>
</p:sld>
</file>

<file path=ppt/theme/theme1.xml><?xml version="1.0" encoding="utf-8"?>
<a:theme xmlns:a="http://schemas.openxmlformats.org/drawingml/2006/main" name="Indian AI Tech Project Proposal by Slidesgo">
  <a:themeElements>
    <a:clrScheme name="Simple Light">
      <a:dk1>
        <a:srgbClr val="EFF1F1"/>
      </a:dk1>
      <a:lt1>
        <a:srgbClr val="E69138"/>
      </a:lt1>
      <a:dk2>
        <a:srgbClr val="783F04"/>
      </a:dk2>
      <a:lt2>
        <a:srgbClr val="B45F06"/>
      </a:lt2>
      <a:accent1>
        <a:srgbClr val="E67907"/>
      </a:accent1>
      <a:accent2>
        <a:srgbClr val="F9CB9C"/>
      </a:accent2>
      <a:accent3>
        <a:srgbClr val="FCE5CD"/>
      </a:accent3>
      <a:accent4>
        <a:srgbClr val="FFFFFF"/>
      </a:accent4>
      <a:accent5>
        <a:srgbClr val="FFFFFF"/>
      </a:accent5>
      <a:accent6>
        <a:srgbClr val="FFFFFF"/>
      </a:accent6>
      <a:hlink>
        <a:srgbClr val="EFF1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673</Words>
  <Application>Microsoft Office PowerPoint</Application>
  <PresentationFormat>Apresentação no Ecrã (16:9)</PresentationFormat>
  <Paragraphs>125</Paragraphs>
  <Slides>16</Slides>
  <Notes>4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16</vt:i4>
      </vt:variant>
    </vt:vector>
  </HeadingPairs>
  <TitlesOfParts>
    <vt:vector size="27" baseType="lpstr">
      <vt:lpstr>Inria Sans</vt:lpstr>
      <vt:lpstr>Saira Semi Condensed</vt:lpstr>
      <vt:lpstr>Arial</vt:lpstr>
      <vt:lpstr>Bebas Neue</vt:lpstr>
      <vt:lpstr>DM Sans</vt:lpstr>
      <vt:lpstr>Michroma</vt:lpstr>
      <vt:lpstr>Roboto Condensed Light</vt:lpstr>
      <vt:lpstr>Calibri</vt:lpstr>
      <vt:lpstr>Nanum Gothic Coding</vt:lpstr>
      <vt:lpstr>Teko Medium</vt:lpstr>
      <vt:lpstr>Indian AI Tech Project Proposal by Slidesgo</vt:lpstr>
      <vt:lpstr>Modelos de Difusão</vt:lpstr>
      <vt:lpstr>SETORES DA INTELIGÊNCIA ARTIFICIAL</vt:lpstr>
      <vt:lpstr>MODELOS DE GERAÇÃO PROFUNDOS</vt:lpstr>
      <vt:lpstr>MODELOS DE DIFUSÃO</vt:lpstr>
      <vt:lpstr>PROCESSO DE TREINO</vt:lpstr>
      <vt:lpstr>PROCESSO DE INFERÊNCIA</vt:lpstr>
      <vt:lpstr>EXEMPLO DE PROCESSO DE TREINO/INFERÊNCIA</vt:lpstr>
      <vt:lpstr>APLICABILIDADE</vt:lpstr>
      <vt:lpstr>VISÃO POR COMPUTADOR</vt:lpstr>
      <vt:lpstr>APRENDIZAGEM MULTI-MODAL</vt:lpstr>
      <vt:lpstr>CASOS DE ESTUDO</vt:lpstr>
      <vt:lpstr>U-Net</vt:lpstr>
      <vt:lpstr>DALL-E 2</vt:lpstr>
      <vt:lpstr>AIVA</vt:lpstr>
      <vt:lpstr>ÉTICA E RESPONSABILIDADE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Modelos de Geração Profundos - Modelos de Difusão</dc:title>
  <dc:creator>Francisco Izquierdo</dc:creator>
  <cp:lastModifiedBy>Francisco Reis Izquierdo</cp:lastModifiedBy>
  <cp:revision>270</cp:revision>
  <dcterms:modified xsi:type="dcterms:W3CDTF">2023-04-23T22:24:27Z</dcterms:modified>
</cp:coreProperties>
</file>